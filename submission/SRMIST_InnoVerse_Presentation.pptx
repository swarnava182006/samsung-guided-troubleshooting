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6" r:id="rId12"/>
    <p:sldId id="270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12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user does not speak in SIIS terms. The friction is the translation from a vague complaint to a correct action. The missing layer is a guided, structured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key distinction is specialization: we are not presenting a generic chatbot or brittle rules engine. We are building around the official Theme 02 contract and the need for grounded, actionable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the judge through the architecture left to right: understand the complaint, ground it in official SIIS, structure the response, match the official catalog, validate it, then guide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most product-oriented slide. Narrate the journey: describe, understand, guide, act, confirm. The interface hides SIIS and retrieval complexity from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only the responsibilities of each layer. Avoid reading out every dependency. The point is that the stack is intentionally lightweight and tied to a real system responsibility.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strongest hard facts are the size of the official grounding sources and the zero URL-leak result. Frame the before/after as workflow simplification, not as a claim of measured business impact unless independently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Highlight the engineering safety model: official grounding, catalog-backed deeplinks, deterministic validation, reproducible evaluation. Be careful to call the 1.64-second figure an average live cold-start, not a p95.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Separate what exists now from what comes next. The next step is deeper semantic evaluation; the long-term direction is multi-turn and device-aware assistance.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as a quiet checklist. Confirm the real submission artifacts and replace the demo-video line with the final link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1D2DD0-6AFD-7D4B-000F-B3929FF55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2" t="4834" r="26961"/>
          <a:stretch>
            <a:fillRect/>
          </a:stretch>
        </p:blipFill>
        <p:spPr>
          <a:xfrm>
            <a:off x="134114" y="62307"/>
            <a:ext cx="4292512" cy="1808696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CE53D66-FDF2-A884-0FD6-53A744345364}"/>
              </a:ext>
            </a:extLst>
          </p:cNvPr>
          <p:cNvSpPr txBox="1"/>
          <p:nvPr/>
        </p:nvSpPr>
        <p:spPr>
          <a:xfrm>
            <a:off x="94488" y="1922477"/>
            <a:ext cx="6186737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500" dirty="0"/>
              <a:t>• Theme ID - 2</a:t>
            </a:r>
            <a:br>
              <a:rPr lang="en-IN" sz="1500" dirty="0"/>
            </a:br>
            <a:r>
              <a:rPr lang="en-IN" sz="1500" dirty="0"/>
              <a:t>• Team Name - </a:t>
            </a:r>
            <a:r>
              <a:rPr lang="en-IN" sz="1500" dirty="0" err="1"/>
              <a:t>InnoVerse</a:t>
            </a:r>
            <a:br>
              <a:rPr lang="en-IN" sz="1500" dirty="0"/>
            </a:br>
            <a:r>
              <a:rPr lang="en-IN" sz="1500" dirty="0"/>
              <a:t>• College Name - SRM Institute of Science and Technology</a:t>
            </a:r>
            <a:br>
              <a:rPr lang="en-IN" sz="1500" dirty="0"/>
            </a:br>
            <a:r>
              <a:rPr lang="en-IN" sz="1500" dirty="0"/>
              <a:t>• Member Name &amp; Email 1- </a:t>
            </a:r>
            <a:r>
              <a:rPr lang="en-IN" sz="1500" dirty="0" err="1"/>
              <a:t>Swarnava</a:t>
            </a:r>
            <a:r>
              <a:rPr lang="en-IN" sz="1500" dirty="0"/>
              <a:t> Sarkar &amp; swarnava2019@gmail.com</a:t>
            </a:r>
            <a:br>
              <a:rPr lang="en-IN" sz="1500" dirty="0"/>
            </a:br>
            <a:r>
              <a:rPr lang="en-IN" sz="1500" dirty="0"/>
              <a:t>• Member Name &amp; Email 2 – K. </a:t>
            </a:r>
            <a:r>
              <a:rPr lang="en-IN" sz="1500" dirty="0" err="1"/>
              <a:t>Trimman</a:t>
            </a:r>
            <a:r>
              <a:rPr lang="en-IN" sz="1500" dirty="0"/>
              <a:t> Choudhary &amp; kk0569@srmist.edu.in</a:t>
            </a:r>
            <a:br>
              <a:rPr lang="en-IN" sz="1500" dirty="0"/>
            </a:br>
            <a:r>
              <a:rPr lang="en-IN" sz="1500" dirty="0"/>
              <a:t>• Member Name &amp; Email 3- Utsav Singh &amp; saxenautsav06@gmail.com</a:t>
            </a:r>
            <a:br>
              <a:rPr lang="en-IN" sz="1500" dirty="0"/>
            </a:br>
            <a:r>
              <a:rPr lang="en-IN" sz="1500" dirty="0"/>
              <a:t>• Member Name &amp; Email 4- Hemanth </a:t>
            </a:r>
            <a:r>
              <a:rPr lang="en-IN" sz="1500" dirty="0" err="1"/>
              <a:t>Muthyalu</a:t>
            </a:r>
            <a:r>
              <a:rPr lang="en-IN" sz="1500" dirty="0"/>
              <a:t> &amp; mr2853@srmist.edu.in</a:t>
            </a:r>
            <a:br>
              <a:rPr lang="en-IN" sz="1500" dirty="0"/>
            </a:br>
            <a:r>
              <a:rPr lang="en-IN" sz="1500" dirty="0"/>
              <a:t>• Submission </a:t>
            </a:r>
            <a:r>
              <a:rPr lang="en-IN" sz="1500" dirty="0" err="1"/>
              <a:t>Github</a:t>
            </a:r>
            <a:r>
              <a:rPr lang="en-IN" sz="1500" dirty="0"/>
              <a:t> link - https://github.com/SWARNAVA182006/samsung-guided-troubleshooting.git</a:t>
            </a:r>
          </a:p>
        </p:txBody>
      </p:sp>
      <p:pic>
        <p:nvPicPr>
          <p:cNvPr id="65" name="Image 0" descr="hero_network.png">
            <a:extLst>
              <a:ext uri="{FF2B5EF4-FFF2-40B4-BE49-F238E27FC236}">
                <a16:creationId xmlns:a16="http://schemas.microsoft.com/office/drawing/2014/main" id="{2254BB81-5BE4-E586-EAAE-F9E6AE532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785" y="1103504"/>
            <a:ext cx="3065344" cy="3065344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8D4C88D7-8BDB-F528-C1E5-4519677C48C1}"/>
              </a:ext>
            </a:extLst>
          </p:cNvPr>
          <p:cNvSpPr txBox="1"/>
          <p:nvPr/>
        </p:nvSpPr>
        <p:spPr>
          <a:xfrm>
            <a:off x="2321345" y="4226434"/>
            <a:ext cx="6050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Samsung Guided Troubleshooting Engine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D087BF4-09C1-522F-AFC6-E045808CC266}"/>
              </a:ext>
            </a:extLst>
          </p:cNvPr>
          <p:cNvSpPr txBox="1"/>
          <p:nvPr/>
        </p:nvSpPr>
        <p:spPr>
          <a:xfrm>
            <a:off x="2321345" y="4568015"/>
            <a:ext cx="6050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/>
              </a:rPr>
              <a:t>Turn vague device complaints into grounded, </a:t>
            </a:r>
            <a:r>
              <a:rPr lang="en-IN" sz="1200" dirty="0">
                <a:latin typeface="Arial"/>
              </a:rPr>
              <a:t>actionable troubleshooting.</a:t>
            </a:r>
          </a:p>
          <a:p>
            <a:endParaRPr lang="en-US" sz="1200" dirty="0">
              <a:latin typeface="Arial"/>
            </a:endParaRP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310C8AE7-2460-0D44-147F-C70AE4D5B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293" y="4309306"/>
            <a:ext cx="515052" cy="517419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7DD529-6511-2D06-C184-4BFE653D9683}"/>
              </a:ext>
            </a:extLst>
          </p:cNvPr>
          <p:cNvSpPr txBox="1"/>
          <p:nvPr/>
        </p:nvSpPr>
        <p:spPr>
          <a:xfrm>
            <a:off x="8785274" y="4651749"/>
            <a:ext cx="2423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1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311481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286"/>
            <a:ext cx="914400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7576" y="600597"/>
            <a:ext cx="835456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121B37"/>
                </a:solidFill>
                <a:latin typeface="Arial"/>
              </a:rPr>
              <a:t>Support knowledge exists. </a:t>
            </a:r>
            <a:r>
              <a:rPr sz="2200" b="1" i="0" dirty="0">
                <a:solidFill>
                  <a:srgbClr val="7030A0"/>
                </a:solidFill>
                <a:latin typeface="Arial"/>
              </a:rPr>
              <a:t>The friction is turning it into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0109" y="984782"/>
            <a:ext cx="79552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B6987"/>
                </a:solidFill>
                <a:latin typeface="Arial"/>
              </a:rPr>
              <a:t>Users speak naturally; support systems still make them translate the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5108" y="1344167"/>
            <a:ext cx="566928" cy="32004"/>
          </a:xfrm>
          <a:prstGeom prst="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3351" y="1653724"/>
            <a:ext cx="82524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0070C0"/>
                </a:solidFill>
                <a:latin typeface="Arial"/>
              </a:rPr>
              <a:t>TODAY</a:t>
            </a:r>
          </a:p>
        </p:txBody>
      </p:sp>
      <p:sp>
        <p:nvSpPr>
          <p:cNvPr id="17" name="Oval 16"/>
          <p:cNvSpPr/>
          <p:nvPr/>
        </p:nvSpPr>
        <p:spPr>
          <a:xfrm>
            <a:off x="5483352" y="1993392"/>
            <a:ext cx="384048" cy="384048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3352" y="2075688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E76FF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0739" y="2060875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Read SIIS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0599" y="2060875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5B6987"/>
                </a:solidFill>
                <a:latin typeface="Arial"/>
              </a:rPr>
              <a:t>Find the relevant article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75376" y="2377440"/>
            <a:ext cx="0" cy="201168"/>
          </a:xfrm>
          <a:prstGeom prst="line">
            <a:avLst/>
          </a:prstGeom>
          <a:ln w="12700">
            <a:solidFill>
              <a:srgbClr val="DA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483352" y="2578608"/>
            <a:ext cx="384048" cy="384048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3352" y="2660903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E76FF"/>
                </a:solidFill>
                <a:latin typeface="Arial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20739" y="2685275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Interpret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119" y="2690227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5B6987"/>
                </a:solidFill>
                <a:latin typeface="Arial"/>
              </a:rPr>
              <a:t>Translate guidance into steps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75376" y="2962656"/>
            <a:ext cx="0" cy="201168"/>
          </a:xfrm>
          <a:prstGeom prst="line">
            <a:avLst/>
          </a:prstGeom>
          <a:ln w="12700">
            <a:solidFill>
              <a:srgbClr val="DA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483352" y="3163824"/>
            <a:ext cx="384048" cy="384048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3352" y="324612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E76FF"/>
                </a:solidFill>
                <a:latin typeface="Arial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3119" y="3255264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Navigate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1548" y="3274183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5B6987"/>
                </a:solidFill>
                <a:latin typeface="Arial"/>
              </a:rPr>
              <a:t>Find the right Settings screen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75376" y="3547872"/>
            <a:ext cx="0" cy="201167"/>
          </a:xfrm>
          <a:prstGeom prst="line">
            <a:avLst/>
          </a:prstGeom>
          <a:ln w="12700">
            <a:solidFill>
              <a:srgbClr val="DA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483352" y="3749039"/>
            <a:ext cx="384048" cy="384048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3352" y="3831335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2E76FF"/>
                </a:solidFill>
                <a:latin typeface="Arial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13119" y="3846314"/>
            <a:ext cx="12344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Explain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70599" y="3856982"/>
            <a:ext cx="23317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5B6987"/>
                </a:solidFill>
                <a:latin typeface="Arial"/>
              </a:rPr>
              <a:t>Tell the user what to tap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11139" y="4315968"/>
            <a:ext cx="3688081" cy="393192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43728" y="4389120"/>
            <a:ext cx="359359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FFFFFF"/>
                </a:solidFill>
                <a:latin typeface="Arial"/>
              </a:rPr>
              <a:t>THE MISSING LAYER  →  guided, structured, actionable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" y="4917948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 dirty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61476" y="4846320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 dirty="0">
                <a:solidFill>
                  <a:srgbClr val="5B6987"/>
                </a:solidFill>
                <a:latin typeface="Arial"/>
              </a:rPr>
              <a:t>02</a:t>
            </a:r>
          </a:p>
        </p:txBody>
      </p:sp>
      <p:sp>
        <p:nvSpPr>
          <p:cNvPr id="41" name="Rounded Rectangle 2">
            <a:extLst>
              <a:ext uri="{FF2B5EF4-FFF2-40B4-BE49-F238E27FC236}">
                <a16:creationId xmlns:a16="http://schemas.microsoft.com/office/drawing/2014/main" id="{78BFBB66-ED94-43B3-C056-684B9B473D1F}"/>
              </a:ext>
            </a:extLst>
          </p:cNvPr>
          <p:cNvSpPr/>
          <p:nvPr/>
        </p:nvSpPr>
        <p:spPr>
          <a:xfrm>
            <a:off x="251860" y="86823"/>
            <a:ext cx="4736593" cy="387793"/>
          </a:xfrm>
          <a:prstGeom prst="roundRect">
            <a:avLst/>
          </a:prstGeom>
          <a:solidFill>
            <a:srgbClr val="F4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E76FF"/>
                </a:solidFill>
                <a:latin typeface="Arial"/>
              </a:rPr>
              <a:t>THEME 02 </a:t>
            </a:r>
            <a:r>
              <a:rPr lang="en-US" sz="1200" b="1" dirty="0">
                <a:solidFill>
                  <a:srgbClr val="0070C0"/>
                </a:solidFill>
                <a:latin typeface="Arial"/>
              </a:rPr>
              <a:t>( GUIDED TROUBLESHOOTING)</a:t>
            </a:r>
            <a:r>
              <a:rPr lang="en-US" sz="1200" b="1" dirty="0">
                <a:solidFill>
                  <a:srgbClr val="2E76FF"/>
                </a:solidFill>
                <a:latin typeface="Arial"/>
              </a:rPr>
              <a:t>  /  THE PROBLEM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4DD9483-1CE1-551D-ADE2-5062F90A12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163" r="565"/>
          <a:stretch>
            <a:fillRect/>
          </a:stretch>
        </p:blipFill>
        <p:spPr>
          <a:xfrm>
            <a:off x="272796" y="1461989"/>
            <a:ext cx="4885943" cy="33843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148" y="33897"/>
            <a:ext cx="6210396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3600" b="1" dirty="0">
                <a:solidFill>
                  <a:srgbClr val="704EA6"/>
                </a:solidFill>
                <a:cs typeface="Arial" pitchFamily="34" charset="-120"/>
              </a:rPr>
              <a:t>Existing Solutions &amp; Gaps</a:t>
            </a:r>
            <a:endParaRPr sz="3600" b="1" i="0" dirty="0">
              <a:solidFill>
                <a:srgbClr val="2E76FF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3880" y="1475232"/>
            <a:ext cx="2331720" cy="2523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3880" y="1475232"/>
            <a:ext cx="2331720" cy="91440"/>
          </a:xfrm>
          <a:prstGeom prst="roundRect">
            <a:avLst/>
          </a:prstGeom>
          <a:solidFill>
            <a:srgbClr val="EB5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8472" y="1705838"/>
            <a:ext cx="193852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21B37"/>
                </a:solidFill>
                <a:latin typeface="Arial"/>
              </a:rPr>
              <a:t>GENERIC LLM</a:t>
            </a:r>
          </a:p>
        </p:txBody>
      </p:sp>
      <p:sp>
        <p:nvSpPr>
          <p:cNvPr id="10" name="Oval 9"/>
          <p:cNvSpPr/>
          <p:nvPr/>
        </p:nvSpPr>
        <p:spPr>
          <a:xfrm>
            <a:off x="728472" y="2161032"/>
            <a:ext cx="256032" cy="256032"/>
          </a:xfrm>
          <a:prstGeom prst="ellipse">
            <a:avLst/>
          </a:prstGeom>
          <a:solidFill>
            <a:srgbClr val="F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8472" y="217017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EB505C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944" y="2217400"/>
            <a:ext cx="157276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121B37"/>
                </a:solidFill>
                <a:latin typeface="Arial"/>
              </a:rPr>
              <a:t>Free-form response</a:t>
            </a:r>
          </a:p>
        </p:txBody>
      </p:sp>
      <p:sp>
        <p:nvSpPr>
          <p:cNvPr id="13" name="Oval 12"/>
          <p:cNvSpPr/>
          <p:nvPr/>
        </p:nvSpPr>
        <p:spPr>
          <a:xfrm>
            <a:off x="728472" y="2673096"/>
            <a:ext cx="256032" cy="256032"/>
          </a:xfrm>
          <a:prstGeom prst="ellipse">
            <a:avLst/>
          </a:prstGeom>
          <a:solidFill>
            <a:srgbClr val="F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472" y="2682240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EB505C"/>
                </a:solidFill>
                <a:latin typeface="Arial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5944" y="2729464"/>
            <a:ext cx="172059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121B37"/>
                </a:solidFill>
                <a:latin typeface="Arial"/>
              </a:rPr>
              <a:t>Weak structural guarantees</a:t>
            </a:r>
          </a:p>
        </p:txBody>
      </p:sp>
      <p:sp>
        <p:nvSpPr>
          <p:cNvPr id="16" name="Oval 15"/>
          <p:cNvSpPr/>
          <p:nvPr/>
        </p:nvSpPr>
        <p:spPr>
          <a:xfrm>
            <a:off x="728472" y="3185160"/>
            <a:ext cx="256032" cy="256032"/>
          </a:xfrm>
          <a:prstGeom prst="ellipse">
            <a:avLst/>
          </a:prstGeom>
          <a:solidFill>
            <a:srgbClr val="FF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8472" y="3194304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EB505C"/>
                </a:solidFill>
                <a:latin typeface="Arial"/>
              </a:rP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5944" y="3160738"/>
            <a:ext cx="1720596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121B37"/>
                </a:solidFill>
                <a:latin typeface="Arial"/>
              </a:rPr>
              <a:t>No catalog-backed </a:t>
            </a:r>
            <a:r>
              <a:rPr sz="1050" b="0" i="0" dirty="0" err="1">
                <a:solidFill>
                  <a:srgbClr val="121B37"/>
                </a:solidFill>
                <a:latin typeface="Arial"/>
              </a:rPr>
              <a:t>deeplink</a:t>
            </a:r>
            <a:r>
              <a:rPr sz="1050" b="0" i="0" dirty="0">
                <a:solidFill>
                  <a:srgbClr val="121B37"/>
                </a:solidFill>
                <a:latin typeface="Arial"/>
              </a:rPr>
              <a:t> contract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97352" y="1475232"/>
            <a:ext cx="2331720" cy="2523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197352" y="1475232"/>
            <a:ext cx="2331720" cy="91440"/>
          </a:xfrm>
          <a:prstGeom prst="roundRect">
            <a:avLst/>
          </a:prstGeom>
          <a:solidFill>
            <a:srgbClr val="F6A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1944" y="1705838"/>
            <a:ext cx="193852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21B37"/>
                </a:solidFill>
                <a:latin typeface="Arial"/>
              </a:rPr>
              <a:t>RULE-BASED</a:t>
            </a:r>
          </a:p>
        </p:txBody>
      </p:sp>
      <p:sp>
        <p:nvSpPr>
          <p:cNvPr id="22" name="Oval 21"/>
          <p:cNvSpPr/>
          <p:nvPr/>
        </p:nvSpPr>
        <p:spPr>
          <a:xfrm>
            <a:off x="3361944" y="2161032"/>
            <a:ext cx="256032" cy="256032"/>
          </a:xfrm>
          <a:prstGeom prst="ellipse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61944" y="217017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6AF2D"/>
                </a:solidFill>
                <a:latin typeface="Arial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9416" y="2217400"/>
            <a:ext cx="157276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121B37"/>
                </a:solidFill>
                <a:latin typeface="Arial"/>
              </a:rPr>
              <a:t>Brittle on paraphrases</a:t>
            </a:r>
          </a:p>
        </p:txBody>
      </p:sp>
      <p:sp>
        <p:nvSpPr>
          <p:cNvPr id="25" name="Oval 24"/>
          <p:cNvSpPr/>
          <p:nvPr/>
        </p:nvSpPr>
        <p:spPr>
          <a:xfrm>
            <a:off x="3361944" y="2673096"/>
            <a:ext cx="256032" cy="256032"/>
          </a:xfrm>
          <a:prstGeom prst="ellipse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61944" y="2682240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6AF2D"/>
                </a:solidFill>
                <a:latin typeface="Arial"/>
              </a:rPr>
              <a:t>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9416" y="2729464"/>
            <a:ext cx="157276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121B37"/>
                </a:solidFill>
                <a:latin typeface="Arial"/>
              </a:rPr>
              <a:t>Manual maintenance</a:t>
            </a:r>
          </a:p>
        </p:txBody>
      </p:sp>
      <p:sp>
        <p:nvSpPr>
          <p:cNvPr id="28" name="Oval 27"/>
          <p:cNvSpPr/>
          <p:nvPr/>
        </p:nvSpPr>
        <p:spPr>
          <a:xfrm>
            <a:off x="3361944" y="3185160"/>
            <a:ext cx="256032" cy="256032"/>
          </a:xfrm>
          <a:prstGeom prst="ellipse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61944" y="3194304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6AF2D"/>
                </a:solidFill>
                <a:latin typeface="Arial"/>
              </a:rPr>
              <a:t>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9416" y="3241528"/>
            <a:ext cx="157276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dirty="0">
                <a:solidFill>
                  <a:srgbClr val="121B37"/>
                </a:solidFill>
                <a:latin typeface="Arial"/>
              </a:rPr>
              <a:t>Limited generalization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30824" y="1475232"/>
            <a:ext cx="2331720" cy="25237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C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830824" y="1475232"/>
            <a:ext cx="2331720" cy="91440"/>
          </a:xfrm>
          <a:prstGeom prst="round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95415" y="1705838"/>
            <a:ext cx="193852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121B37"/>
                </a:solidFill>
                <a:latin typeface="Arial"/>
              </a:rPr>
              <a:t>OUR ENGINE</a:t>
            </a:r>
          </a:p>
        </p:txBody>
      </p:sp>
      <p:sp>
        <p:nvSpPr>
          <p:cNvPr id="34" name="Oval 33"/>
          <p:cNvSpPr/>
          <p:nvPr/>
        </p:nvSpPr>
        <p:spPr>
          <a:xfrm>
            <a:off x="5995415" y="2161032"/>
            <a:ext cx="256032" cy="256032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95415" y="2170175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E76FF"/>
                </a:solidFill>
                <a:latin typeface="Arial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2887" y="2217400"/>
            <a:ext cx="157276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dirty="0">
                <a:solidFill>
                  <a:srgbClr val="121B37"/>
                </a:solidFill>
                <a:latin typeface="Arial"/>
              </a:rPr>
              <a:t>Official SIIS grounding</a:t>
            </a:r>
          </a:p>
        </p:txBody>
      </p:sp>
      <p:sp>
        <p:nvSpPr>
          <p:cNvPr id="37" name="Oval 36"/>
          <p:cNvSpPr/>
          <p:nvPr/>
        </p:nvSpPr>
        <p:spPr>
          <a:xfrm>
            <a:off x="5995415" y="2673096"/>
            <a:ext cx="256032" cy="256032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95415" y="2682240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E76FF"/>
                </a:solidFill>
                <a:latin typeface="Arial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42886" y="2648674"/>
            <a:ext cx="1819657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dirty="0">
                <a:solidFill>
                  <a:srgbClr val="121B37"/>
                </a:solidFill>
                <a:latin typeface="Arial"/>
              </a:rPr>
              <a:t>Validated structure + </a:t>
            </a:r>
            <a:r>
              <a:rPr sz="1050" b="1" i="0" dirty="0" err="1">
                <a:solidFill>
                  <a:srgbClr val="121B37"/>
                </a:solidFill>
                <a:latin typeface="Arial"/>
              </a:rPr>
              <a:t>deeplinks</a:t>
            </a:r>
            <a:endParaRPr sz="1050" b="1" i="0" dirty="0">
              <a:solidFill>
                <a:srgbClr val="121B37"/>
              </a:solidFill>
              <a:latin typeface="Arial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995415" y="3185160"/>
            <a:ext cx="256032" cy="256032"/>
          </a:xfrm>
          <a:prstGeom prst="ellipse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95415" y="3194304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2E76FF"/>
                </a:solidFill>
                <a:latin typeface="Arial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2887" y="3241528"/>
            <a:ext cx="157276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 dirty="0">
                <a:solidFill>
                  <a:srgbClr val="121B37"/>
                </a:solidFill>
                <a:latin typeface="Arial"/>
              </a:rPr>
              <a:t>Guided user experience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95415" y="3673694"/>
            <a:ext cx="190195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 dirty="0">
                <a:solidFill>
                  <a:srgbClr val="2E76FF"/>
                </a:solidFill>
                <a:latin typeface="Arial"/>
              </a:rPr>
              <a:t>Contract </a:t>
            </a:r>
            <a:r>
              <a:rPr sz="900" b="1" i="0" dirty="0">
                <a:solidFill>
                  <a:srgbClr val="2E76FF"/>
                </a:solidFill>
                <a:latin typeface="Arial"/>
              </a:rPr>
              <a:t>protected</a:t>
            </a:r>
            <a:r>
              <a:rPr sz="700" b="1" i="0" dirty="0">
                <a:solidFill>
                  <a:srgbClr val="2E76FF"/>
                </a:solidFill>
                <a:latin typeface="Arial"/>
              </a:rPr>
              <a:t> in code.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3880" y="4218432"/>
            <a:ext cx="7598664" cy="320040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7616" y="4298609"/>
            <a:ext cx="749808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dirty="0">
                <a:solidFill>
                  <a:srgbClr val="43CDFF"/>
                </a:solidFill>
                <a:latin typeface="Arial"/>
              </a:rPr>
              <a:t>KEY INSIGHT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69719" y="4272266"/>
            <a:ext cx="6364224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Troubleshooting is not just a conversation — it is a verifiable action plan.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880" y="4840593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31936" y="4840593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5B6987"/>
                </a:solidFill>
                <a:latin typeface="Arial"/>
              </a:rPr>
              <a:t>03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8CC7644-34A6-BD22-0696-E26758FA26B4}"/>
              </a:ext>
            </a:extLst>
          </p:cNvPr>
          <p:cNvSpPr txBox="1"/>
          <p:nvPr/>
        </p:nvSpPr>
        <p:spPr>
          <a:xfrm>
            <a:off x="375251" y="674763"/>
            <a:ext cx="98755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500" b="1" i="0" dirty="0">
                <a:solidFill>
                  <a:srgbClr val="141C37"/>
                </a:solidFill>
                <a:latin typeface="Aptos"/>
              </a:rPr>
              <a:t>Generic AI talks. Rules break. We built for the contract.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AA0123-E3CE-454A-36ED-F70B93AF9E15}"/>
              </a:ext>
            </a:extLst>
          </p:cNvPr>
          <p:cNvSpPr txBox="1"/>
          <p:nvPr/>
        </p:nvSpPr>
        <p:spPr>
          <a:xfrm>
            <a:off x="375251" y="1073283"/>
            <a:ext cx="9418320" cy="2369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300" b="0" i="0" dirty="0">
                <a:solidFill>
                  <a:srgbClr val="546381"/>
                </a:solidFill>
                <a:latin typeface="Aptos"/>
              </a:rPr>
              <a:t>The difference is not another chatbot — it is the verified path from language to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6145" y="10746"/>
            <a:ext cx="7891272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3600" b="1" dirty="0">
                <a:solidFill>
                  <a:srgbClr val="704EA6"/>
                </a:solidFill>
              </a:rPr>
              <a:t>Our Solutions &amp; Architecture Diagram</a:t>
            </a:r>
            <a:endParaRPr sz="3600" b="1" i="0" dirty="0">
              <a:solidFill>
                <a:srgbClr val="2E76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5008" y="502921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 dirty="0">
                <a:solidFill>
                  <a:srgbClr val="121B37"/>
                </a:solidFill>
                <a:latin typeface="Arial"/>
              </a:rPr>
              <a:t>From natural language to a verified Settings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3" y="1038249"/>
            <a:ext cx="79552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B6987"/>
                </a:solidFill>
                <a:latin typeface="Arial"/>
              </a:rPr>
              <a:t>An end-to-end pipeline with grounding, validation and fast-path caching.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728" y="1319784"/>
            <a:ext cx="1078992" cy="118872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C9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09600" y="1456944"/>
            <a:ext cx="274320" cy="274320"/>
          </a:xfrm>
          <a:prstGeom prst="ellips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150266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36" y="1837200"/>
            <a:ext cx="94183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121B37"/>
                </a:solidFill>
                <a:latin typeface="Arial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7" y="2158912"/>
            <a:ext cx="1078991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 dirty="0">
                <a:solidFill>
                  <a:srgbClr val="5B6987"/>
                </a:solidFill>
                <a:latin typeface="Arial"/>
              </a:rPr>
              <a:t>Normalize · &amp; enrich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69720" y="1895856"/>
            <a:ext cx="219456" cy="0"/>
          </a:xfrm>
          <a:prstGeom prst="line">
            <a:avLst/>
          </a:prstGeom>
          <a:ln w="17780">
            <a:solidFill>
              <a:srgbClr val="2E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1734312" y="1831848"/>
            <a:ext cx="109728" cy="128016"/>
          </a:xfrm>
          <a:prstGeom prst="triangl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816608" y="1319784"/>
            <a:ext cx="10789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935480" y="1456944"/>
            <a:ext cx="274320" cy="274320"/>
          </a:xfrm>
          <a:prstGeom prst="ellips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5480" y="150266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6336" y="1837200"/>
            <a:ext cx="87782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121B37"/>
                </a:solidFill>
                <a:latin typeface="Arial"/>
              </a:rPr>
              <a:t>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8048" y="2158912"/>
            <a:ext cx="896112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 dirty="0">
                <a:solidFill>
                  <a:srgbClr val="5B6987"/>
                </a:solidFill>
                <a:latin typeface="Arial"/>
              </a:rPr>
              <a:t>Official · SIIS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95599" y="1895856"/>
            <a:ext cx="219457" cy="0"/>
          </a:xfrm>
          <a:prstGeom prst="line">
            <a:avLst/>
          </a:prstGeom>
          <a:ln w="17780">
            <a:solidFill>
              <a:srgbClr val="2E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3060192" y="1831848"/>
            <a:ext cx="109728" cy="128016"/>
          </a:xfrm>
          <a:prstGeom prst="triangl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142488" y="1319784"/>
            <a:ext cx="10789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261360" y="1456944"/>
            <a:ext cx="274320" cy="274320"/>
          </a:xfrm>
          <a:prstGeom prst="ellips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1360" y="150266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2216" y="1837200"/>
            <a:ext cx="87782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121B37"/>
                </a:solidFill>
                <a:latin typeface="Arial"/>
              </a:rPr>
              <a:t>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3928" y="2097357"/>
            <a:ext cx="896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 dirty="0">
                <a:solidFill>
                  <a:srgbClr val="5B6987"/>
                </a:solidFill>
                <a:latin typeface="Arial"/>
              </a:rPr>
              <a:t>Goal → Action  → </a:t>
            </a:r>
            <a:r>
              <a:rPr sz="800" b="1" i="0" dirty="0" err="1">
                <a:solidFill>
                  <a:srgbClr val="5B6987"/>
                </a:solidFill>
                <a:latin typeface="Arial"/>
              </a:rPr>
              <a:t>StepGroup</a:t>
            </a:r>
            <a:endParaRPr sz="800" b="1" i="0" dirty="0">
              <a:solidFill>
                <a:srgbClr val="5B6987"/>
              </a:solidFill>
              <a:latin typeface="Arial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221480" y="1895856"/>
            <a:ext cx="219456" cy="0"/>
          </a:xfrm>
          <a:prstGeom prst="line">
            <a:avLst/>
          </a:prstGeom>
          <a:ln w="17780">
            <a:solidFill>
              <a:srgbClr val="2E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4386072" y="1831848"/>
            <a:ext cx="109728" cy="128016"/>
          </a:xfrm>
          <a:prstGeom prst="triangl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468368" y="1319784"/>
            <a:ext cx="1078992" cy="118872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C9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87240" y="1456944"/>
            <a:ext cx="274320" cy="274320"/>
          </a:xfrm>
          <a:prstGeom prst="ellips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87240" y="150266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8096" y="1837200"/>
            <a:ext cx="87782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121B37"/>
                </a:solidFill>
                <a:latin typeface="Arial"/>
              </a:rPr>
              <a:t>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9808" y="2097357"/>
            <a:ext cx="896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 dirty="0">
                <a:solidFill>
                  <a:srgbClr val="5B6987"/>
                </a:solidFill>
                <a:latin typeface="Arial"/>
              </a:rPr>
              <a:t>578 official · </a:t>
            </a:r>
            <a:r>
              <a:rPr sz="800" b="1" i="0" dirty="0" err="1">
                <a:solidFill>
                  <a:srgbClr val="5B6987"/>
                </a:solidFill>
                <a:latin typeface="Arial"/>
              </a:rPr>
              <a:t>deeplinks</a:t>
            </a:r>
            <a:endParaRPr sz="800" b="1" i="0" dirty="0">
              <a:solidFill>
                <a:srgbClr val="5B6987"/>
              </a:solidFill>
              <a:latin typeface="Arial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547360" y="1895856"/>
            <a:ext cx="219456" cy="0"/>
          </a:xfrm>
          <a:prstGeom prst="line">
            <a:avLst/>
          </a:prstGeom>
          <a:ln w="17780">
            <a:solidFill>
              <a:srgbClr val="2E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5711952" y="1831848"/>
            <a:ext cx="109728" cy="128016"/>
          </a:xfrm>
          <a:prstGeom prst="triangl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794248" y="1319784"/>
            <a:ext cx="10789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913120" y="1456944"/>
            <a:ext cx="274320" cy="274320"/>
          </a:xfrm>
          <a:prstGeom prst="ellips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13120" y="150266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3976" y="1837200"/>
            <a:ext cx="87782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121B37"/>
                </a:solidFill>
                <a:latin typeface="Arial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5687" y="2158912"/>
            <a:ext cx="896112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 dirty="0">
                <a:solidFill>
                  <a:srgbClr val="5B6987"/>
                </a:solidFill>
                <a:latin typeface="Arial"/>
              </a:rPr>
              <a:t>Schema + · safety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73239" y="1895856"/>
            <a:ext cx="219457" cy="0"/>
          </a:xfrm>
          <a:prstGeom prst="line">
            <a:avLst/>
          </a:prstGeom>
          <a:ln w="17780">
            <a:solidFill>
              <a:srgbClr val="2E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5400000">
            <a:off x="7037832" y="1831848"/>
            <a:ext cx="109728" cy="128016"/>
          </a:xfrm>
          <a:prstGeom prst="triangl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120128" y="1319784"/>
            <a:ext cx="107899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239000" y="1456944"/>
            <a:ext cx="274320" cy="274320"/>
          </a:xfrm>
          <a:prstGeom prst="ellips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39000" y="1502664"/>
            <a:ext cx="2743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9856" y="1837200"/>
            <a:ext cx="87782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121B37"/>
                </a:solidFill>
                <a:latin typeface="Arial"/>
              </a:rPr>
              <a:t>GUIDE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1567" y="2097357"/>
            <a:ext cx="8961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 dirty="0">
                <a:solidFill>
                  <a:srgbClr val="5B6987"/>
                </a:solidFill>
                <a:latin typeface="Arial"/>
              </a:rPr>
              <a:t>One step · at a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728" y="2684602"/>
            <a:ext cx="2213426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0070C0"/>
                </a:solidFill>
                <a:latin typeface="Arial"/>
              </a:rPr>
              <a:t>IMPLEMENTATION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0729" y="3084576"/>
            <a:ext cx="5394958" cy="2925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90728" y="3084576"/>
            <a:ext cx="1170432" cy="301752"/>
          </a:xfrm>
          <a:prstGeom prst="round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1312" y="3161629"/>
            <a:ext cx="969264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07464" y="3153935"/>
            <a:ext cx="6172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React · TypeScript · Vite · Tailwind · Framer Motion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0729" y="3496056"/>
            <a:ext cx="5394958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90728" y="3496056"/>
            <a:ext cx="1170432" cy="301752"/>
          </a:xfrm>
          <a:prstGeom prst="roundRect">
            <a:avLst/>
          </a:prstGeom>
          <a:solidFill>
            <a:srgbClr val="4D4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1312" y="3573110"/>
            <a:ext cx="969264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7464" y="3565416"/>
            <a:ext cx="6172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Node.js · </a:t>
            </a:r>
            <a:r>
              <a:rPr sz="1000" b="1" i="0" dirty="0" err="1">
                <a:solidFill>
                  <a:srgbClr val="121B37"/>
                </a:solidFill>
                <a:latin typeface="Arial"/>
              </a:rPr>
              <a:t>Fastify 4</a:t>
            </a:r>
            <a:r>
              <a:rPr sz="1000" b="1" i="0" dirty="0">
                <a:solidFill>
                  <a:srgbClr val="121B37"/>
                </a:solidFill>
                <a:latin typeface="Arial"/>
              </a:rPr>
              <a:t> · session / proxy routing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90729" y="3907536"/>
            <a:ext cx="5394958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90728" y="3907536"/>
            <a:ext cx="1170432" cy="301752"/>
          </a:xfrm>
          <a:prstGeom prst="roundRect">
            <a:avLst/>
          </a:prstGeom>
          <a:solidFill>
            <a:srgbClr val="79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91312" y="3984590"/>
            <a:ext cx="969264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Arial"/>
              </a:rPr>
              <a:t>AI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07464" y="3976896"/>
            <a:ext cx="61722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Python · </a:t>
            </a:r>
            <a:r>
              <a:rPr sz="1000" b="1" i="0" dirty="0" err="1">
                <a:solidFill>
                  <a:srgbClr val="121B37"/>
                </a:solidFill>
                <a:latin typeface="Arial"/>
              </a:rPr>
              <a:t>FastAPI</a:t>
            </a:r>
            <a:r>
              <a:rPr sz="1000" b="1" i="0" dirty="0">
                <a:solidFill>
                  <a:srgbClr val="121B37"/>
                </a:solidFill>
                <a:latin typeface="Arial"/>
              </a:rPr>
              <a:t> · </a:t>
            </a:r>
            <a:r>
              <a:rPr sz="1000" b="1" i="0" dirty="0" err="1">
                <a:solidFill>
                  <a:srgbClr val="121B37"/>
                </a:solidFill>
                <a:latin typeface="Arial"/>
              </a:rPr>
              <a:t>Pydantic</a:t>
            </a:r>
            <a:r>
              <a:rPr sz="1000" b="1" i="0" dirty="0">
                <a:solidFill>
                  <a:srgbClr val="121B37"/>
                </a:solidFill>
                <a:latin typeface="Arial"/>
              </a:rPr>
              <a:t> · Gemini · retrieval · cache · validation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94369" y="4651348"/>
            <a:ext cx="2803967" cy="340766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b="1" dirty="0">
                <a:solidFill>
                  <a:srgbClr val="FFFFFF"/>
                </a:solidFill>
                <a:latin typeface="Arial"/>
              </a:rPr>
              <a:t>FAST PATH  •  Exact + paraphrase cache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0728" y="4852726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 dirty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23669" y="4821731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 dirty="0">
                <a:solidFill>
                  <a:srgbClr val="5B6987"/>
                </a:solidFill>
                <a:latin typeface="Arial"/>
              </a:rPr>
              <a:t>04</a:t>
            </a:r>
          </a:p>
        </p:txBody>
      </p:sp>
      <p:sp>
        <p:nvSpPr>
          <p:cNvPr id="67" name="Rounded Rectangle 59">
            <a:extLst>
              <a:ext uri="{FF2B5EF4-FFF2-40B4-BE49-F238E27FC236}">
                <a16:creationId xmlns:a16="http://schemas.microsoft.com/office/drawing/2014/main" id="{91D9519A-60D4-A33E-94FF-E27E3F66FCBE}"/>
              </a:ext>
            </a:extLst>
          </p:cNvPr>
          <p:cNvSpPr/>
          <p:nvPr/>
        </p:nvSpPr>
        <p:spPr>
          <a:xfrm>
            <a:off x="6652163" y="3023763"/>
            <a:ext cx="2213427" cy="1185521"/>
          </a:xfrm>
          <a:prstGeom prst="roundRect">
            <a:avLst/>
          </a:prstGeom>
          <a:solidFill>
            <a:srgbClr val="0D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C39A5B9-D8F9-DD36-2EEF-17EE1FD657E1}"/>
              </a:ext>
            </a:extLst>
          </p:cNvPr>
          <p:cNvSpPr txBox="1"/>
          <p:nvPr/>
        </p:nvSpPr>
        <p:spPr>
          <a:xfrm>
            <a:off x="6953927" y="3096464"/>
            <a:ext cx="2542032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23BEEA"/>
                </a:solidFill>
                <a:latin typeface="Aptos"/>
              </a:rPr>
              <a:t>OFFICIAL CONTRACT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8FA34B6-5674-13FD-D055-61E2AA1A786C}"/>
              </a:ext>
            </a:extLst>
          </p:cNvPr>
          <p:cNvSpPr txBox="1"/>
          <p:nvPr/>
        </p:nvSpPr>
        <p:spPr>
          <a:xfrm>
            <a:off x="6982967" y="3326762"/>
            <a:ext cx="228600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ptos"/>
              </a:rPr>
              <a:t>Complaint + SIIS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4FD07-041C-9FDB-BF18-3EA2696AB5F7}"/>
              </a:ext>
            </a:extLst>
          </p:cNvPr>
          <p:cNvSpPr txBox="1"/>
          <p:nvPr/>
        </p:nvSpPr>
        <p:spPr>
          <a:xfrm>
            <a:off x="7005191" y="3565797"/>
            <a:ext cx="2487168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CDDBEF"/>
                </a:solidFill>
                <a:latin typeface="Aptos"/>
              </a:rPr>
              <a:t>Goal  →  Action  →  </a:t>
            </a:r>
            <a:r>
              <a:rPr sz="1000" b="1" i="0" dirty="0" err="1">
                <a:solidFill>
                  <a:srgbClr val="CDDBEF"/>
                </a:solidFill>
                <a:latin typeface="Aptos"/>
              </a:rPr>
              <a:t>StepGroup</a:t>
            </a:r>
            <a:endParaRPr sz="1000" b="1" i="0" dirty="0">
              <a:solidFill>
                <a:srgbClr val="CDDBEF"/>
              </a:solidFill>
              <a:latin typeface="Apto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FE0403-2974-9B16-5F57-02E888A84AA7}"/>
              </a:ext>
            </a:extLst>
          </p:cNvPr>
          <p:cNvSpPr txBox="1"/>
          <p:nvPr/>
        </p:nvSpPr>
        <p:spPr>
          <a:xfrm>
            <a:off x="6982967" y="3742824"/>
            <a:ext cx="2286000" cy="19082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00" b="1" i="0" dirty="0">
                <a:solidFill>
                  <a:srgbClr val="CDDBEF"/>
                </a:solidFill>
                <a:latin typeface="Aptos"/>
              </a:rPr>
              <a:t>+ catalog-backed </a:t>
            </a:r>
            <a:r>
              <a:rPr sz="1000" b="1" i="0" dirty="0" err="1">
                <a:solidFill>
                  <a:srgbClr val="CDDBEF"/>
                </a:solidFill>
                <a:latin typeface="Aptos"/>
              </a:rPr>
              <a:t>deeplink</a:t>
            </a:r>
            <a:endParaRPr sz="1000" b="1" i="0" dirty="0">
              <a:solidFill>
                <a:srgbClr val="CDDBE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0099" y="18650"/>
            <a:ext cx="6281013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3600" b="1" dirty="0">
                <a:solidFill>
                  <a:srgbClr val="704EA6"/>
                </a:solidFill>
              </a:rPr>
              <a:t>Demo &amp; Product Walkthrough</a:t>
            </a:r>
            <a:endParaRPr sz="3600" b="1" i="0" dirty="0">
              <a:solidFill>
                <a:srgbClr val="2E76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93776" y="606841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121B37"/>
                </a:solidFill>
                <a:latin typeface="Arial"/>
              </a:rPr>
              <a:t>The output is a guided journey — not a paragraph dump.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625" y="951991"/>
            <a:ext cx="79552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300" b="0" i="0" dirty="0">
                <a:solidFill>
                  <a:srgbClr val="5B6987"/>
                </a:solidFill>
                <a:latin typeface="Arial"/>
              </a:rPr>
              <a:t>A user describes the problem once; the product carries the complexity.</a:t>
            </a:r>
            <a:endParaRPr sz="1300" b="0" i="0" dirty="0">
              <a:solidFill>
                <a:srgbClr val="5B6987"/>
              </a:solidFill>
              <a:latin typeface="Arial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355080" y="1426464"/>
            <a:ext cx="1234440" cy="2414016"/>
          </a:xfrm>
          <a:prstGeom prst="roundRect">
            <a:avLst/>
          </a:prstGeom>
          <a:solidFill>
            <a:srgbClr val="0A1937"/>
          </a:solidFill>
          <a:ln w="12700">
            <a:solidFill>
              <a:srgbClr val="445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9944" y="1472183"/>
            <a:ext cx="1124712" cy="109728"/>
          </a:xfrm>
          <a:prstGeom prst="roundRect">
            <a:avLst/>
          </a:prstGeom>
          <a:solidFill>
            <a:srgbClr val="07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28232" y="1627632"/>
            <a:ext cx="1088136" cy="2148840"/>
          </a:xfrm>
          <a:prstGeom prst="roundRect">
            <a:avLst/>
          </a:prstGeom>
          <a:solidFill>
            <a:srgbClr val="11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01384" y="1719071"/>
            <a:ext cx="21945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4C92FF"/>
                </a:solidFill>
                <a:latin typeface="Arial"/>
              </a:rPr>
              <a:t>S✦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7416" y="1719071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50" b="1" i="0">
                <a:solidFill>
                  <a:srgbClr val="B2C5E0"/>
                </a:solidFill>
                <a:latin typeface="Arial"/>
              </a:rPr>
              <a:t>1 /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01384" y="1901952"/>
            <a:ext cx="941832" cy="54864"/>
          </a:xfrm>
          <a:prstGeom prst="roundRect">
            <a:avLst/>
          </a:prstGeom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501384" y="1901952"/>
            <a:ext cx="282549" cy="54864"/>
          </a:xfrm>
          <a:prstGeom prst="round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83096" y="2066544"/>
            <a:ext cx="978408" cy="1097280"/>
          </a:xfrm>
          <a:prstGeom prst="roundRect">
            <a:avLst/>
          </a:prstGeom>
          <a:solidFill>
            <a:srgbClr val="1C2B4B"/>
          </a:solidFill>
          <a:ln w="12700">
            <a:solidFill>
              <a:srgbClr val="3A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74536" y="2212848"/>
            <a:ext cx="7955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Check Wi-Fi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74536" y="2706624"/>
            <a:ext cx="795528" cy="256032"/>
          </a:xfrm>
          <a:prstGeom prst="round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74536" y="2761488"/>
            <a:ext cx="79552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Open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4112" y="1426464"/>
            <a:ext cx="1234440" cy="2414016"/>
          </a:xfrm>
          <a:prstGeom prst="roundRect">
            <a:avLst/>
          </a:prstGeom>
          <a:solidFill>
            <a:srgbClr val="0A1937"/>
          </a:solidFill>
          <a:ln w="12700">
            <a:solidFill>
              <a:srgbClr val="445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808976" y="1472183"/>
            <a:ext cx="1124712" cy="109728"/>
          </a:xfrm>
          <a:prstGeom prst="roundRect">
            <a:avLst/>
          </a:prstGeom>
          <a:solidFill>
            <a:srgbClr val="07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827264" y="1627632"/>
            <a:ext cx="1088136" cy="2148840"/>
          </a:xfrm>
          <a:prstGeom prst="roundRect">
            <a:avLst/>
          </a:prstGeom>
          <a:solidFill>
            <a:srgbClr val="11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00416" y="1719071"/>
            <a:ext cx="219456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4C92FF"/>
                </a:solidFill>
                <a:latin typeface="Arial"/>
              </a:rPr>
              <a:t>S✦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56448" y="1719071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50" b="1" i="0">
                <a:solidFill>
                  <a:srgbClr val="B2C5E0"/>
                </a:solidFill>
                <a:latin typeface="Arial"/>
              </a:rPr>
              <a:t>2 /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00416" y="1901952"/>
            <a:ext cx="941832" cy="54864"/>
          </a:xfrm>
          <a:prstGeom prst="roundRect">
            <a:avLst/>
          </a:prstGeom>
          <a:solidFill>
            <a:srgbClr val="E1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900416" y="1901952"/>
            <a:ext cx="282549" cy="54864"/>
          </a:xfrm>
          <a:prstGeom prst="round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882128" y="2066544"/>
            <a:ext cx="978408" cy="1097280"/>
          </a:xfrm>
          <a:prstGeom prst="roundRect">
            <a:avLst/>
          </a:prstGeom>
          <a:solidFill>
            <a:srgbClr val="1C2B4B"/>
          </a:solidFill>
          <a:ln w="12700">
            <a:solidFill>
              <a:srgbClr val="3A4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73568" y="2212848"/>
            <a:ext cx="79552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Confirm connection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73568" y="2706624"/>
            <a:ext cx="795528" cy="256032"/>
          </a:xfrm>
          <a:prstGeom prst="round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73568" y="2761488"/>
            <a:ext cx="795528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37376" y="3959352"/>
            <a:ext cx="1024128" cy="256032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10528" y="3977640"/>
            <a:ext cx="87782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01  DESCRIBE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18120" y="3959352"/>
            <a:ext cx="914400" cy="256032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91272" y="3977640"/>
            <a:ext cx="76809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02 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4864608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49208" y="4839208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 dirty="0">
                <a:solidFill>
                  <a:srgbClr val="5B6987"/>
                </a:solidFill>
                <a:latin typeface="Arial"/>
              </a:rPr>
              <a:t>05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1395E195-3349-B9F9-8893-7235683AC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642674"/>
            <a:ext cx="284146" cy="246004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779A3C2-D613-D579-8BFE-129B2CB7A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014" y="1643195"/>
            <a:ext cx="284146" cy="246004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2187797-2BCA-2906-9E07-C447096DD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951" y="1242856"/>
            <a:ext cx="5955685" cy="34151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1895" y="195948"/>
            <a:ext cx="5284422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 stack used</a:t>
            </a:r>
            <a:endParaRPr sz="3600" b="1" i="0" dirty="0">
              <a:solidFill>
                <a:srgbClr val="2E76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6671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 dirty="0">
                <a:solidFill>
                  <a:srgbClr val="121B37"/>
                </a:solidFill>
                <a:latin typeface="Arial"/>
              </a:rPr>
              <a:t>Purpose-built layers, not buzzwords.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45879"/>
            <a:ext cx="79552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B6987"/>
                </a:solidFill>
                <a:latin typeface="Arial"/>
              </a:rPr>
              <a:t>Every technology shown here is tied to an actual responsibility in the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19072"/>
            <a:ext cx="818387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1325880" cy="493776"/>
          </a:xfrm>
          <a:prstGeom prst="round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85701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92224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React + TypeScript + Vite + Tailwind CSS + Framer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84248"/>
            <a:ext cx="53949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Premium responsive UI, guided state, themes and motion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359152"/>
            <a:ext cx="818387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920" y="2359152"/>
            <a:ext cx="1325880" cy="493776"/>
          </a:xfrm>
          <a:prstGeom prst="roundRect">
            <a:avLst/>
          </a:prstGeom>
          <a:solidFill>
            <a:srgbClr val="4D4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" y="249709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32304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Node.js + </a:t>
            </a:r>
            <a:r>
              <a:rPr sz="1200" b="1" i="0" dirty="0" err="1">
                <a:solidFill>
                  <a:srgbClr val="121B37"/>
                </a:solidFill>
                <a:latin typeface="Arial"/>
              </a:rPr>
              <a:t>Fastify</a:t>
            </a:r>
            <a:endParaRPr sz="1200" b="1" i="0" dirty="0">
              <a:solidFill>
                <a:srgbClr val="121B37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011680" y="2624328"/>
            <a:ext cx="53949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Session routing and service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999232"/>
            <a:ext cx="818387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" y="2999232"/>
            <a:ext cx="1325880" cy="493776"/>
          </a:xfrm>
          <a:prstGeom prst="roundRect">
            <a:avLst/>
          </a:prstGeom>
          <a:solidFill>
            <a:srgbClr val="79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" y="313717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AI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072384"/>
            <a:ext cx="4343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Python + </a:t>
            </a:r>
            <a:r>
              <a:rPr sz="1200" b="1" i="0" dirty="0" err="1">
                <a:solidFill>
                  <a:srgbClr val="121B37"/>
                </a:solidFill>
                <a:latin typeface="Arial"/>
              </a:rPr>
              <a:t>FastAPI</a:t>
            </a:r>
            <a:r>
              <a:rPr sz="1200" b="1" i="0" dirty="0">
                <a:solidFill>
                  <a:srgbClr val="121B37"/>
                </a:solidFill>
                <a:latin typeface="Arial"/>
              </a:rPr>
              <a:t> + </a:t>
            </a:r>
            <a:r>
              <a:rPr sz="1200" b="1" i="0" dirty="0" err="1">
                <a:solidFill>
                  <a:srgbClr val="121B37"/>
                </a:solidFill>
                <a:latin typeface="Arial"/>
              </a:rPr>
              <a:t>Pydantic</a:t>
            </a:r>
            <a:r>
              <a:rPr sz="1200" b="1" i="0" dirty="0">
                <a:solidFill>
                  <a:srgbClr val="121B37"/>
                </a:solidFill>
                <a:latin typeface="Arial"/>
              </a:rPr>
              <a:t> + Gemini (optional)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264408"/>
            <a:ext cx="53949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i="0" dirty="0">
                <a:solidFill>
                  <a:srgbClr val="5B6987"/>
                </a:solidFill>
                <a:latin typeface="Arial"/>
              </a:rPr>
              <a:t>Generation, grounding, validation and safe output</a:t>
            </a:r>
            <a:endParaRPr sz="1000" b="0" i="0" dirty="0">
              <a:solidFill>
                <a:srgbClr val="5B6987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639311"/>
            <a:ext cx="8183879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02920" y="3639311"/>
            <a:ext cx="1325880" cy="493776"/>
          </a:xfrm>
          <a:prstGeom prst="roundRect">
            <a:avLst/>
          </a:prstGeom>
          <a:solidFill>
            <a:srgbClr val="43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77251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Arial"/>
              </a:rPr>
              <a:t>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711570"/>
            <a:ext cx="463600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SIIS grounding + TF-IDF retrieval + </a:t>
            </a:r>
            <a:r>
              <a:rPr sz="1200" b="1" i="0" dirty="0" err="1">
                <a:solidFill>
                  <a:srgbClr val="121B37"/>
                </a:solidFill>
                <a:latin typeface="Arial"/>
              </a:rPr>
              <a:t>deeplink</a:t>
            </a:r>
            <a:r>
              <a:rPr sz="1200" b="1" i="0" dirty="0">
                <a:solidFill>
                  <a:srgbClr val="121B37"/>
                </a:solidFill>
                <a:latin typeface="Arial"/>
              </a:rPr>
              <a:t> matching + cache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904487"/>
            <a:ext cx="5394960" cy="155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Deterministic retrieval, catalog integrity and fast-path 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467" y="4369359"/>
            <a:ext cx="279196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0070C0"/>
                </a:solidFill>
                <a:latin typeface="Arial"/>
              </a:rPr>
              <a:t>DESIGNED AROUND THE CONTRACT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4620" y="4343400"/>
            <a:ext cx="1188720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9004" y="4385328"/>
            <a:ext cx="104241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2E76FF"/>
                </a:solidFill>
                <a:latin typeface="Arial"/>
              </a:rPr>
              <a:t>Grounded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9164" y="4343400"/>
            <a:ext cx="1188720" cy="256032"/>
          </a:xfrm>
          <a:prstGeom prst="round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57932" y="4385328"/>
            <a:ext cx="104241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4D49E0"/>
                </a:solidFill>
                <a:latin typeface="Arial"/>
              </a:rPr>
              <a:t>Structured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50284" y="4343400"/>
            <a:ext cx="1188720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23436" y="4385328"/>
            <a:ext cx="104241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7952FF"/>
                </a:solidFill>
                <a:latin typeface="Arial"/>
              </a:rPr>
              <a:t>Catalog-backed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54828" y="4343400"/>
            <a:ext cx="1188720" cy="256032"/>
          </a:xfrm>
          <a:prstGeom prst="round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64556" y="4385328"/>
            <a:ext cx="104241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43CDFF"/>
                </a:solidFill>
                <a:latin typeface="Arial"/>
              </a:rPr>
              <a:t>Validated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864608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4846320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5B6987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6619" y="103348"/>
            <a:ext cx="4393171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</a:t>
            </a:r>
            <a:endParaRPr sz="3600" b="1" i="0" dirty="0">
              <a:solidFill>
                <a:srgbClr val="2E76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679328"/>
            <a:ext cx="8340138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121B37"/>
                </a:solidFill>
                <a:latin typeface="Arial"/>
              </a:rPr>
              <a:t>Reduce the distance between “I have a problem” and “I know what to do.”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07929"/>
            <a:ext cx="79552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B6987"/>
                </a:solidFill>
                <a:latin typeface="Arial"/>
              </a:rPr>
              <a:t>The same underlying engine serves users, support workflows and SIIS automation.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235915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9202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2E76FF"/>
                </a:solidFill>
                <a:latin typeface="Arial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2164" y="2077248"/>
            <a:ext cx="134416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OFFICIAL SIIS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36391" y="1755648"/>
            <a:ext cx="235915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00984" y="19202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4D49E0"/>
                </a:solidFill>
                <a:latin typeface="Arial"/>
              </a:rPr>
              <a:t>578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0" y="2013240"/>
            <a:ext cx="1609343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OFFICIAL DEEPLINK ENTRIES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9864" y="1755648"/>
            <a:ext cx="2359152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34455" y="1920240"/>
            <a:ext cx="7772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2FC88B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8514" y="2013240"/>
            <a:ext cx="1380744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URL LEAKS IN EVALUATED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41520"/>
            <a:ext cx="809244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chemeClr val="tx2">
                    <a:lumMod val="75000"/>
                  </a:schemeClr>
                </a:solidFill>
                <a:latin typeface="Arial"/>
              </a:rPr>
              <a:t>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Read → Interpret → Search → Explain → Navigate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436" y="3153844"/>
            <a:ext cx="6858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2E76FF"/>
                </a:solidFill>
                <a:latin typeface="Arial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429000"/>
            <a:ext cx="374903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21B37"/>
                </a:solidFill>
                <a:latin typeface="Arial"/>
              </a:rPr>
              <a:t>Describe → Ground → Guide → Open → Confirm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24871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30936" y="4114800"/>
            <a:ext cx="256032" cy="256032"/>
          </a:xfrm>
          <a:prstGeom prst="ellipse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4065288"/>
            <a:ext cx="157276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END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39" y="4281623"/>
            <a:ext cx="1956815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Clear steps, less Settings hunting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977639"/>
            <a:ext cx="24871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374136" y="4114800"/>
            <a:ext cx="256032" cy="256032"/>
          </a:xfrm>
          <a:prstGeom prst="ellipse">
            <a:avLst/>
          </a:prstGeom>
          <a:solidFill>
            <a:srgbClr val="4D4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49039" y="4065288"/>
            <a:ext cx="157276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294277"/>
            <a:ext cx="191109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Structured, repeatable guidance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3977639"/>
            <a:ext cx="2487168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117336" y="4114800"/>
            <a:ext cx="256032" cy="256032"/>
          </a:xfrm>
          <a:prstGeom prst="ellipse">
            <a:avLst/>
          </a:prstGeom>
          <a:solidFill>
            <a:srgbClr val="43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4065288"/>
            <a:ext cx="157276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SIIS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212372"/>
            <a:ext cx="175564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New articles can flow through the same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64608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846320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5B6987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1422" y="149646"/>
            <a:ext cx="8727542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highlights, results and limitations</a:t>
            </a:r>
            <a:endParaRPr sz="3600" b="1" i="0" dirty="0">
              <a:solidFill>
                <a:srgbClr val="2E76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8195" y="744432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121B37"/>
                </a:solidFill>
                <a:latin typeface="Arial"/>
              </a:rPr>
              <a:t>The model generates. The system verifies.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06980"/>
            <a:ext cx="79552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B6987"/>
                </a:solidFill>
                <a:latin typeface="Arial"/>
              </a:rPr>
              <a:t>Measured benchmark facts are kept separate from engineering limitations.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66928" cy="32004"/>
          </a:xfrm>
          <a:prstGeom prst="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19072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64008" cy="713232"/>
          </a:xfrm>
          <a:prstGeom prst="round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34152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IN" sz="1000" b="1" i="0" dirty="0">
                <a:solidFill>
                  <a:srgbClr val="121B37"/>
                </a:solidFill>
                <a:latin typeface="Arial"/>
              </a:rPr>
              <a:t>GROUNDED</a:t>
            </a:r>
            <a:endParaRPr sz="1000" b="1" i="0" dirty="0">
              <a:solidFill>
                <a:srgbClr val="121B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004095"/>
            <a:ext cx="152704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Steps derive from supplied SIIS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719072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42032" y="1719072"/>
            <a:ext cx="64008" cy="713232"/>
          </a:xfrm>
          <a:prstGeom prst="roundRect">
            <a:avLst/>
          </a:prstGeom>
          <a:solidFill>
            <a:srgbClr val="4D4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24912" y="1834152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ACTIONABLE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2" y="2004095"/>
            <a:ext cx="152704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 err="1">
                <a:solidFill>
                  <a:srgbClr val="5B6987"/>
                </a:solidFill>
                <a:latin typeface="Arial"/>
              </a:rPr>
              <a:t>Deeplinks</a:t>
            </a:r>
            <a:r>
              <a:rPr sz="1000" b="0" i="0" dirty="0">
                <a:solidFill>
                  <a:srgbClr val="5B6987"/>
                </a:solidFill>
                <a:latin typeface="Arial"/>
              </a:rPr>
              <a:t> come from the official catalog.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569464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" y="2569464"/>
            <a:ext cx="64008" cy="713232"/>
          </a:xfrm>
          <a:prstGeom prst="roundRect">
            <a:avLst/>
          </a:prstGeom>
          <a:solidFill>
            <a:srgbClr val="795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684544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DETERMINISTIC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54488"/>
            <a:ext cx="152704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Contract checks run after generation.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2032" y="2569464"/>
            <a:ext cx="190195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542032" y="2569464"/>
            <a:ext cx="64008" cy="713232"/>
          </a:xfrm>
          <a:prstGeom prst="roundRect">
            <a:avLst/>
          </a:prstGeom>
          <a:solidFill>
            <a:srgbClr val="43C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24912" y="2684544"/>
            <a:ext cx="1417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121B37"/>
                </a:solidFill>
                <a:latin typeface="Arial"/>
              </a:rPr>
              <a:t>REPRODUCIBLE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24912" y="2854488"/>
            <a:ext cx="152704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5B6987"/>
                </a:solidFill>
                <a:latin typeface="Arial"/>
              </a:rPr>
              <a:t>Evaluation is scriptable and inspectable.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60" y="1719072"/>
            <a:ext cx="4005072" cy="2414016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83480" y="1920240"/>
            <a:ext cx="2057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43CDFF"/>
                </a:solidFill>
                <a:latin typeface="Arial"/>
              </a:rPr>
              <a:t>BENCHMARK SNAPSHOT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92624" y="2257988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dirty="0">
                <a:solidFill>
                  <a:srgbClr val="FFFFFF"/>
                </a:solidFill>
                <a:latin typeface="Arial"/>
              </a:rPr>
              <a:t>20 /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2624" y="2669155"/>
            <a:ext cx="15544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BACBE5"/>
                </a:solidFill>
                <a:latin typeface="Arial"/>
              </a:rPr>
              <a:t>Schema-valid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7124" y="2269839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dirty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57416" y="2669155"/>
            <a:ext cx="15544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BACBE5"/>
                </a:solidFill>
                <a:latin typeface="Arial"/>
              </a:rPr>
              <a:t>URL leaks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2986497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dirty="0">
                <a:solidFill>
                  <a:srgbClr val="FFFFFF"/>
                </a:solidFill>
                <a:latin typeface="Arial"/>
              </a:rPr>
              <a:t>146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3338560"/>
            <a:ext cx="16002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BACBE5"/>
                </a:solidFill>
                <a:latin typeface="Arial"/>
              </a:rPr>
              <a:t>Catalog-backed </a:t>
            </a:r>
            <a:r>
              <a:rPr sz="1200" b="0" i="0" dirty="0" err="1">
                <a:solidFill>
                  <a:srgbClr val="BACBE5"/>
                </a:solidFill>
                <a:latin typeface="Arial"/>
              </a:rPr>
              <a:t>deeplinks</a:t>
            </a:r>
            <a:endParaRPr sz="1200" b="0" i="0" dirty="0">
              <a:solidFill>
                <a:srgbClr val="BACBE5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07124" y="2986497"/>
            <a:ext cx="148132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 dirty="0">
                <a:solidFill>
                  <a:srgbClr val="FFFFFF"/>
                </a:solidFill>
                <a:latin typeface="Arial"/>
              </a:rPr>
              <a:t>1.68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6" y="3363206"/>
            <a:ext cx="1554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dirty="0">
                <a:solidFill>
                  <a:srgbClr val="BACBE5"/>
                </a:solidFill>
                <a:latin typeface="Arial"/>
              </a:rPr>
              <a:t>Average 20-case pipeline*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66933" y="3861821"/>
            <a:ext cx="3602735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1" dirty="0">
                <a:solidFill>
                  <a:srgbClr val="9AB3D4"/>
                </a:solidFill>
                <a:latin typeface="Arial"/>
              </a:rPr>
              <a:t>*Average local pipeline latency across the 20 official cases; not a p95 claim.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538728"/>
            <a:ext cx="3941063" cy="795528"/>
          </a:xfrm>
          <a:prstGeom prst="roundRect">
            <a:avLst/>
          </a:prstGeom>
          <a:solidFill>
            <a:srgbClr val="FFF8E6"/>
          </a:solidFill>
          <a:ln w="12700">
            <a:solidFill>
              <a:srgbClr val="EED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" y="3660830"/>
            <a:ext cx="182880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F6AF2D"/>
                </a:solidFill>
                <a:latin typeface="Arial"/>
              </a:rPr>
              <a:t>HONEST BOUNDARIES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3881179"/>
            <a:ext cx="3566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 dirty="0">
                <a:solidFill>
                  <a:srgbClr val="121B37"/>
                </a:solidFill>
                <a:latin typeface="Arial"/>
              </a:rPr>
              <a:t>Candidate retrieval rate ≠ semantic accuracy  •  Jaccard cache has limits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864608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4846320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5B6987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7170" y="45472"/>
            <a:ext cx="320040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sz="3600" b="1" i="0" dirty="0">
              <a:solidFill>
                <a:srgbClr val="2E76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737200"/>
            <a:ext cx="8340138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121B37"/>
                </a:solidFill>
                <a:latin typeface="Arial"/>
              </a:rPr>
              <a:t>Build from a solid contract toward deeper device-aware assistance.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7373"/>
            <a:ext cx="79552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B6987"/>
                </a:solidFill>
                <a:latin typeface="Arial"/>
              </a:rPr>
              <a:t>Current system first; future improvements are clearly separated.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99286"/>
            <a:ext cx="566928" cy="32004"/>
          </a:xfrm>
          <a:prstGeom prst="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468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7512" y="2121408"/>
            <a:ext cx="841248" cy="256032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163336"/>
            <a:ext cx="69494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2E76FF"/>
                </a:solidFill>
                <a:latin typeface="Arial"/>
              </a:rPr>
              <a:t>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10143"/>
            <a:ext cx="2304288" cy="1046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21B37"/>
                </a:solidFill>
                <a:latin typeface="Arial"/>
              </a:rPr>
              <a:t>Grounded Theme 02 contract</a:t>
            </a:r>
            <a:br>
              <a:rPr dirty="0"/>
            </a:br>
            <a:r>
              <a:rPr dirty="0"/>
              <a:t>Validated output</a:t>
            </a:r>
            <a:br>
              <a:rPr dirty="0"/>
            </a:br>
            <a:r>
              <a:rPr dirty="0"/>
              <a:t>Catalog-backed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382063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dirty="0">
                <a:solidFill>
                  <a:srgbClr val="2E76FF"/>
                </a:solidFill>
                <a:latin typeface="Arial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2999232"/>
            <a:ext cx="274320" cy="0"/>
          </a:xfrm>
          <a:prstGeom prst="line">
            <a:avLst/>
          </a:prstGeom>
          <a:ln w="20320">
            <a:solidFill>
              <a:srgbClr val="2E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46120" y="1920240"/>
            <a:ext cx="2468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10712" y="2121408"/>
            <a:ext cx="841248" cy="256032"/>
          </a:xfrm>
          <a:prstGeom prst="round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3864" y="2163336"/>
            <a:ext cx="69494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4D49E0"/>
                </a:solidFill>
                <a:latin typeface="Arial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562148"/>
            <a:ext cx="2304288" cy="13234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21B37"/>
                </a:solidFill>
                <a:latin typeface="Arial"/>
              </a:rPr>
              <a:t>Ground-truth relevance set</a:t>
            </a:r>
            <a:br>
              <a:rPr dirty="0"/>
            </a:br>
            <a:r>
              <a:rPr dirty="0"/>
              <a:t>Stronger retrieval evaluation</a:t>
            </a:r>
            <a:br>
              <a:rPr dirty="0"/>
            </a:br>
            <a:r>
              <a:rPr dirty="0"/>
              <a:t>Semantic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700" y="3838696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dirty="0">
                <a:solidFill>
                  <a:srgbClr val="4D49E0"/>
                </a:solidFill>
                <a:latin typeface="Arial"/>
              </a:rPr>
              <a:t>02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715000" y="2999232"/>
            <a:ext cx="274320" cy="0"/>
          </a:xfrm>
          <a:prstGeom prst="line">
            <a:avLst/>
          </a:prstGeom>
          <a:ln w="20320">
            <a:solidFill>
              <a:srgbClr val="2E7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89320" y="1920240"/>
            <a:ext cx="24688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153912" y="2121408"/>
            <a:ext cx="841248" cy="256032"/>
          </a:xfrm>
          <a:prstGeom prst="round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27064" y="2163336"/>
            <a:ext cx="69494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7952FF"/>
                </a:solidFill>
                <a:latin typeface="Arial"/>
              </a:rPr>
              <a:t>FUTURE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2557516"/>
            <a:ext cx="2468880" cy="1046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21B37"/>
                </a:solidFill>
                <a:latin typeface="Arial"/>
              </a:rPr>
              <a:t>Multi-turn troubleshooting</a:t>
            </a:r>
            <a:br>
              <a:rPr dirty="0"/>
            </a:br>
            <a:r>
              <a:rPr dirty="0"/>
              <a:t>Device-aware guidance</a:t>
            </a:r>
            <a:br>
              <a:rPr dirty="0"/>
            </a:br>
            <a:r>
              <a:rPr dirty="0"/>
              <a:t>Native Galaxy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3820634"/>
            <a:ext cx="4114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 dirty="0">
                <a:solidFill>
                  <a:srgbClr val="7952FF"/>
                </a:solidFill>
                <a:latin typeface="Arial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97680"/>
            <a:ext cx="7955279" cy="320040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351651"/>
            <a:ext cx="3017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Arial"/>
              </a:rPr>
              <a:t>Scale the intelligence, keep the contract.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4351651"/>
            <a:ext cx="4137152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200" b="1" i="0" dirty="0">
                <a:solidFill>
                  <a:srgbClr val="B0CDF2"/>
                </a:solidFill>
                <a:latin typeface="Arial"/>
              </a:rPr>
              <a:t>More semantic depth without losing verification.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64608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846320"/>
            <a:ext cx="237744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5B6987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ight_bg.png">
            <a:extLst>
              <a:ext uri="{FF2B5EF4-FFF2-40B4-BE49-F238E27FC236}">
                <a16:creationId xmlns:a16="http://schemas.microsoft.com/office/drawing/2014/main" id="{8CA900C9-1494-4221-B082-1F6752DCA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557F01-E949-B6BB-9683-1E1EE5CBA6B9}"/>
              </a:ext>
            </a:extLst>
          </p:cNvPr>
          <p:cNvSpPr txBox="1"/>
          <p:nvPr/>
        </p:nvSpPr>
        <p:spPr>
          <a:xfrm>
            <a:off x="277793" y="84064"/>
            <a:ext cx="81138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points slide( differentiation)</a:t>
            </a:r>
            <a:endParaRPr lang="en-IN" sz="36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32F57E-F5B9-5F5B-C43E-FDA27B105999}"/>
              </a:ext>
            </a:extLst>
          </p:cNvPr>
          <p:cNvSpPr/>
          <p:nvPr/>
        </p:nvSpPr>
        <p:spPr>
          <a:xfrm>
            <a:off x="5559552" y="1463040"/>
            <a:ext cx="1417320" cy="1417320"/>
          </a:xfrm>
          <a:prstGeom prst="ellipse">
            <a:avLst/>
          </a:prstGeom>
          <a:solidFill>
            <a:srgbClr val="112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1BA057-5740-743B-A6DC-7FA35F4CF700}"/>
              </a:ext>
            </a:extLst>
          </p:cNvPr>
          <p:cNvSpPr/>
          <p:nvPr/>
        </p:nvSpPr>
        <p:spPr>
          <a:xfrm>
            <a:off x="5824728" y="1728216"/>
            <a:ext cx="868680" cy="868680"/>
          </a:xfrm>
          <a:prstGeom prst="ellipse">
            <a:avLst/>
          </a:prstGeom>
          <a:solidFill>
            <a:srgbClr val="183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5377F2-EBBB-1491-E027-F1B899601E18}"/>
              </a:ext>
            </a:extLst>
          </p:cNvPr>
          <p:cNvSpPr txBox="1"/>
          <p:nvPr/>
        </p:nvSpPr>
        <p:spPr>
          <a:xfrm>
            <a:off x="5824728" y="1892807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0FA8FF-451C-3F93-C314-9713B939D731}"/>
              </a:ext>
            </a:extLst>
          </p:cNvPr>
          <p:cNvSpPr txBox="1"/>
          <p:nvPr/>
        </p:nvSpPr>
        <p:spPr>
          <a:xfrm>
            <a:off x="5577840" y="2352330"/>
            <a:ext cx="1389888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 dirty="0">
                <a:solidFill>
                  <a:srgbClr val="43CDFF"/>
                </a:solidFill>
                <a:latin typeface="Arial"/>
              </a:rPr>
              <a:t>VERIFIED</a:t>
            </a:r>
            <a:br>
              <a:rPr dirty="0"/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ACTION</a:t>
            </a:r>
          </a:p>
        </p:txBody>
      </p:sp>
      <p:sp>
        <p:nvSpPr>
          <p:cNvPr id="15" name="Rounded Rectangle 26">
            <a:extLst>
              <a:ext uri="{FF2B5EF4-FFF2-40B4-BE49-F238E27FC236}">
                <a16:creationId xmlns:a16="http://schemas.microsoft.com/office/drawing/2014/main" id="{8AF0E9B8-2AF9-E277-AC10-88221BCCA22F}"/>
              </a:ext>
            </a:extLst>
          </p:cNvPr>
          <p:cNvSpPr/>
          <p:nvPr/>
        </p:nvSpPr>
        <p:spPr>
          <a:xfrm>
            <a:off x="6812280" y="731520"/>
            <a:ext cx="1828800" cy="3611880"/>
          </a:xfrm>
          <a:prstGeom prst="roundRect">
            <a:avLst/>
          </a:prstGeom>
          <a:solidFill>
            <a:srgbClr val="0C1C3A"/>
          </a:solidFill>
          <a:ln w="12700">
            <a:solidFill>
              <a:srgbClr val="2D4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2DCC9C-962E-FD88-D2CC-41F2DDF36128}"/>
              </a:ext>
            </a:extLst>
          </p:cNvPr>
          <p:cNvSpPr txBox="1"/>
          <p:nvPr/>
        </p:nvSpPr>
        <p:spPr>
          <a:xfrm>
            <a:off x="7059168" y="969264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43CDFF"/>
                </a:solidFill>
                <a:latin typeface="Arial"/>
              </a:rPr>
              <a:t>THE ENGINE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45CA8E-4226-317A-2307-51A2F39626CE}"/>
              </a:ext>
            </a:extLst>
          </p:cNvPr>
          <p:cNvSpPr txBox="1"/>
          <p:nvPr/>
        </p:nvSpPr>
        <p:spPr>
          <a:xfrm>
            <a:off x="7077456" y="1417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87D830-A70E-06E4-342A-3C488E2460CB}"/>
              </a:ext>
            </a:extLst>
          </p:cNvPr>
          <p:cNvSpPr txBox="1"/>
          <p:nvPr/>
        </p:nvSpPr>
        <p:spPr>
          <a:xfrm>
            <a:off x="7607808" y="1485230"/>
            <a:ext cx="768096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B7CAE4"/>
                </a:solidFill>
                <a:latin typeface="Arial"/>
              </a:rPr>
              <a:t>SIIS cases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5F387-A484-F2C9-351E-683EF766A879}"/>
              </a:ext>
            </a:extLst>
          </p:cNvPr>
          <p:cNvSpPr txBox="1"/>
          <p:nvPr/>
        </p:nvSpPr>
        <p:spPr>
          <a:xfrm>
            <a:off x="7077456" y="207568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578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417855-7C18-B63A-1BC7-1CB464BF770F}"/>
              </a:ext>
            </a:extLst>
          </p:cNvPr>
          <p:cNvSpPr txBox="1"/>
          <p:nvPr/>
        </p:nvSpPr>
        <p:spPr>
          <a:xfrm>
            <a:off x="7607808" y="2143599"/>
            <a:ext cx="90373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dirty="0" err="1">
                <a:solidFill>
                  <a:srgbClr val="B7CAE4"/>
                </a:solidFill>
                <a:latin typeface="Arial"/>
              </a:rPr>
              <a:t>deeplink</a:t>
            </a:r>
            <a:r>
              <a:rPr sz="900" b="1" i="0" dirty="0">
                <a:solidFill>
                  <a:srgbClr val="B7CAE4"/>
                </a:solidFill>
                <a:latin typeface="Arial"/>
              </a:rPr>
              <a:t> entries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4DE4DB-F08B-805B-B65D-F7E5BB4DF9DE}"/>
              </a:ext>
            </a:extLst>
          </p:cNvPr>
          <p:cNvSpPr txBox="1"/>
          <p:nvPr/>
        </p:nvSpPr>
        <p:spPr>
          <a:xfrm>
            <a:off x="7077456" y="273405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5CB477-88D4-7722-A02C-BD71D0BF0668}"/>
              </a:ext>
            </a:extLst>
          </p:cNvPr>
          <p:cNvSpPr txBox="1"/>
          <p:nvPr/>
        </p:nvSpPr>
        <p:spPr>
          <a:xfrm>
            <a:off x="7607808" y="2801967"/>
            <a:ext cx="903732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B7CAE4"/>
                </a:solidFill>
                <a:latin typeface="Arial"/>
              </a:rPr>
              <a:t>validation rules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63C56F-FA85-28F2-BF29-67C483EB80C6}"/>
              </a:ext>
            </a:extLst>
          </p:cNvPr>
          <p:cNvSpPr txBox="1"/>
          <p:nvPr/>
        </p:nvSpPr>
        <p:spPr>
          <a:xfrm>
            <a:off x="7077456" y="339242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03E37A-DAB7-A9E8-66C1-4E97691874E7}"/>
              </a:ext>
            </a:extLst>
          </p:cNvPr>
          <p:cNvSpPr txBox="1"/>
          <p:nvPr/>
        </p:nvSpPr>
        <p:spPr>
          <a:xfrm>
            <a:off x="7607808" y="3460334"/>
            <a:ext cx="768096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dirty="0">
                <a:solidFill>
                  <a:srgbClr val="B7CAE4"/>
                </a:solidFill>
                <a:latin typeface="Arial"/>
              </a:rPr>
              <a:t>URL leaks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6F9037-FA8B-9C7D-94EC-B38D7C33B1D0}"/>
              </a:ext>
            </a:extLst>
          </p:cNvPr>
          <p:cNvSpPr txBox="1"/>
          <p:nvPr/>
        </p:nvSpPr>
        <p:spPr>
          <a:xfrm>
            <a:off x="7086600" y="3905601"/>
            <a:ext cx="128016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chemeClr val="bg1">
                    <a:lumMod val="95000"/>
                  </a:schemeClr>
                </a:solidFill>
                <a:latin typeface="Arial"/>
              </a:rPr>
              <a:t>Built to be</a:t>
            </a:r>
            <a:br>
              <a:rPr sz="14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400" dirty="0">
                <a:solidFill>
                  <a:schemeClr val="bg1">
                    <a:lumMod val="95000"/>
                  </a:schemeClr>
                </a:solidFill>
              </a:rPr>
              <a:t>inspectable.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99854C-7B52-AE7D-21F3-F2F71E636B93}"/>
              </a:ext>
            </a:extLst>
          </p:cNvPr>
          <p:cNvSpPr txBox="1"/>
          <p:nvPr/>
        </p:nvSpPr>
        <p:spPr>
          <a:xfrm>
            <a:off x="8394192" y="4874755"/>
            <a:ext cx="237744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 dirty="0">
                <a:solidFill>
                  <a:schemeClr val="bg2">
                    <a:lumMod val="10000"/>
                  </a:schemeClr>
                </a:solidFill>
                <a:latin typeface="Arial"/>
              </a:rPr>
              <a:t>10</a:t>
            </a:r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281F042B-6427-2865-E102-29E65C8FCF24}"/>
              </a:ext>
            </a:extLst>
          </p:cNvPr>
          <p:cNvSpPr/>
          <p:nvPr/>
        </p:nvSpPr>
        <p:spPr>
          <a:xfrm>
            <a:off x="502920" y="2381379"/>
            <a:ext cx="2011680" cy="786384"/>
          </a:xfrm>
          <a:prstGeom prst="roundRect">
            <a:avLst/>
          </a:prstGeom>
          <a:solidFill>
            <a:srgbClr val="0C1E3E"/>
          </a:solidFill>
          <a:ln w="12700">
            <a:solidFill>
              <a:srgbClr val="2D4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FAE52C-FCF9-E09A-080F-D8D40F3801EC}"/>
              </a:ext>
            </a:extLst>
          </p:cNvPr>
          <p:cNvSpPr txBox="1"/>
          <p:nvPr/>
        </p:nvSpPr>
        <p:spPr>
          <a:xfrm>
            <a:off x="630936" y="2502682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76FF"/>
                </a:solidFill>
                <a:latin typeface="Arial"/>
              </a:rPr>
              <a:t>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152CC7-90E6-22BB-C3EF-C22A6B0E06F3}"/>
              </a:ext>
            </a:extLst>
          </p:cNvPr>
          <p:cNvSpPr txBox="1"/>
          <p:nvPr/>
        </p:nvSpPr>
        <p:spPr>
          <a:xfrm>
            <a:off x="978408" y="2498890"/>
            <a:ext cx="135331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rial"/>
              </a:rPr>
              <a:t>GROUNDING FIRST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5C7430-D4D5-A5C3-E4B9-F9FCBBE88E1B}"/>
              </a:ext>
            </a:extLst>
          </p:cNvPr>
          <p:cNvSpPr txBox="1"/>
          <p:nvPr/>
        </p:nvSpPr>
        <p:spPr>
          <a:xfrm>
            <a:off x="978408" y="2712994"/>
            <a:ext cx="135331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AEC5E3"/>
                </a:solidFill>
                <a:latin typeface="Arial"/>
              </a:rPr>
              <a:t>Official SIIS is the source of truth.</a:t>
            </a:r>
          </a:p>
        </p:txBody>
      </p:sp>
      <p:sp>
        <p:nvSpPr>
          <p:cNvPr id="47" name="Rounded Rectangle 14">
            <a:extLst>
              <a:ext uri="{FF2B5EF4-FFF2-40B4-BE49-F238E27FC236}">
                <a16:creationId xmlns:a16="http://schemas.microsoft.com/office/drawing/2014/main" id="{EAC9CA7F-DFEC-F96B-873F-B489FFF02685}"/>
              </a:ext>
            </a:extLst>
          </p:cNvPr>
          <p:cNvSpPr/>
          <p:nvPr/>
        </p:nvSpPr>
        <p:spPr>
          <a:xfrm>
            <a:off x="2788920" y="2369804"/>
            <a:ext cx="2011680" cy="786384"/>
          </a:xfrm>
          <a:prstGeom prst="roundRect">
            <a:avLst/>
          </a:prstGeom>
          <a:solidFill>
            <a:srgbClr val="0C1E3E"/>
          </a:solidFill>
          <a:ln w="12700">
            <a:solidFill>
              <a:srgbClr val="2D4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A81757-E7B2-07FF-EB64-687709F3D821}"/>
              </a:ext>
            </a:extLst>
          </p:cNvPr>
          <p:cNvSpPr txBox="1"/>
          <p:nvPr/>
        </p:nvSpPr>
        <p:spPr>
          <a:xfrm>
            <a:off x="2916936" y="2502682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4D49E0"/>
                </a:solidFill>
                <a:latin typeface="Arial"/>
              </a:rPr>
              <a:t>02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7CC409-8D11-2E33-9E8F-515E555966AB}"/>
              </a:ext>
            </a:extLst>
          </p:cNvPr>
          <p:cNvSpPr txBox="1"/>
          <p:nvPr/>
        </p:nvSpPr>
        <p:spPr>
          <a:xfrm>
            <a:off x="3264408" y="2421946"/>
            <a:ext cx="135331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rial"/>
              </a:rPr>
              <a:t>CONTRACT, NOT PROMPT HOPING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FF6240-C4DF-20C0-81B4-79CFDC44D031}"/>
              </a:ext>
            </a:extLst>
          </p:cNvPr>
          <p:cNvSpPr txBox="1"/>
          <p:nvPr/>
        </p:nvSpPr>
        <p:spPr>
          <a:xfrm>
            <a:off x="3252833" y="2737704"/>
            <a:ext cx="1664208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AEC5E3"/>
                </a:solidFill>
                <a:latin typeface="Arial"/>
              </a:rPr>
              <a:t>Programmatic validation protects the output.</a:t>
            </a:r>
          </a:p>
        </p:txBody>
      </p:sp>
      <p:sp>
        <p:nvSpPr>
          <p:cNvPr id="55" name="Rounded Rectangle 18">
            <a:extLst>
              <a:ext uri="{FF2B5EF4-FFF2-40B4-BE49-F238E27FC236}">
                <a16:creationId xmlns:a16="http://schemas.microsoft.com/office/drawing/2014/main" id="{3053A8D6-4416-5F45-6EA6-B0457800DDDE}"/>
              </a:ext>
            </a:extLst>
          </p:cNvPr>
          <p:cNvSpPr/>
          <p:nvPr/>
        </p:nvSpPr>
        <p:spPr>
          <a:xfrm>
            <a:off x="502920" y="3453658"/>
            <a:ext cx="2011680" cy="786384"/>
          </a:xfrm>
          <a:prstGeom prst="roundRect">
            <a:avLst/>
          </a:prstGeom>
          <a:solidFill>
            <a:srgbClr val="0C1E3E"/>
          </a:solidFill>
          <a:ln w="12700">
            <a:solidFill>
              <a:srgbClr val="2D4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244EC6-D72E-6CF2-9B3F-287B39556730}"/>
              </a:ext>
            </a:extLst>
          </p:cNvPr>
          <p:cNvSpPr txBox="1"/>
          <p:nvPr/>
        </p:nvSpPr>
        <p:spPr>
          <a:xfrm>
            <a:off x="630936" y="3563386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7952FF"/>
                </a:solidFill>
                <a:latin typeface="Arial"/>
              </a:rPr>
              <a:t>03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283CEB-3A52-8B46-5CD6-BA85DE8CF4E1}"/>
              </a:ext>
            </a:extLst>
          </p:cNvPr>
          <p:cNvSpPr txBox="1"/>
          <p:nvPr/>
        </p:nvSpPr>
        <p:spPr>
          <a:xfrm>
            <a:off x="978408" y="3559593"/>
            <a:ext cx="135331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rial"/>
              </a:rPr>
              <a:t>TEXT → ACTION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1A1115-B45F-83E4-D46E-60A47FB5E6CB}"/>
              </a:ext>
            </a:extLst>
          </p:cNvPr>
          <p:cNvSpPr txBox="1"/>
          <p:nvPr/>
        </p:nvSpPr>
        <p:spPr>
          <a:xfrm>
            <a:off x="978408" y="3744613"/>
            <a:ext cx="1627632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AEC5E3"/>
                </a:solidFill>
                <a:latin typeface="Arial"/>
              </a:rPr>
              <a:t>Catalog-backed Settings </a:t>
            </a:r>
            <a:r>
              <a:rPr sz="1000" b="0" i="0" dirty="0" err="1">
                <a:solidFill>
                  <a:srgbClr val="AEC5E3"/>
                </a:solidFill>
                <a:latin typeface="Arial"/>
              </a:rPr>
              <a:t>deeplinks</a:t>
            </a:r>
            <a:r>
              <a:rPr sz="1000" b="0" i="0" dirty="0">
                <a:solidFill>
                  <a:srgbClr val="AEC5E3"/>
                </a:solidFill>
                <a:latin typeface="Arial"/>
              </a:rPr>
              <a:t> make guidance actionable.</a:t>
            </a:r>
          </a:p>
        </p:txBody>
      </p:sp>
      <p:sp>
        <p:nvSpPr>
          <p:cNvPr id="63" name="Rounded Rectangle 22">
            <a:extLst>
              <a:ext uri="{FF2B5EF4-FFF2-40B4-BE49-F238E27FC236}">
                <a16:creationId xmlns:a16="http://schemas.microsoft.com/office/drawing/2014/main" id="{8D9732DD-A05D-E8B3-23B8-388AD1CEA6E9}"/>
              </a:ext>
            </a:extLst>
          </p:cNvPr>
          <p:cNvSpPr/>
          <p:nvPr/>
        </p:nvSpPr>
        <p:spPr>
          <a:xfrm>
            <a:off x="2788920" y="3453658"/>
            <a:ext cx="2011680" cy="786384"/>
          </a:xfrm>
          <a:prstGeom prst="roundRect">
            <a:avLst/>
          </a:prstGeom>
          <a:solidFill>
            <a:srgbClr val="0C1E3E"/>
          </a:solidFill>
          <a:ln w="12700">
            <a:solidFill>
              <a:srgbClr val="2D48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97BA17-2073-4FC0-0B77-BF85770B9CAA}"/>
              </a:ext>
            </a:extLst>
          </p:cNvPr>
          <p:cNvSpPr txBox="1"/>
          <p:nvPr/>
        </p:nvSpPr>
        <p:spPr>
          <a:xfrm>
            <a:off x="2916936" y="3563386"/>
            <a:ext cx="31089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43CDFF"/>
                </a:solidFill>
                <a:latin typeface="Arial"/>
              </a:rPr>
              <a:t>04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5FFF672-CDC6-ED48-941B-DDDDF0117EC0}"/>
              </a:ext>
            </a:extLst>
          </p:cNvPr>
          <p:cNvSpPr txBox="1"/>
          <p:nvPr/>
        </p:nvSpPr>
        <p:spPr>
          <a:xfrm>
            <a:off x="3264408" y="3559593"/>
            <a:ext cx="135331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Arial"/>
              </a:rPr>
              <a:t>REAL PRODUCT UX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CCB4B1-93F9-B68F-951E-906E4CEB5983}"/>
              </a:ext>
            </a:extLst>
          </p:cNvPr>
          <p:cNvSpPr txBox="1"/>
          <p:nvPr/>
        </p:nvSpPr>
        <p:spPr>
          <a:xfrm>
            <a:off x="3264408" y="3733038"/>
            <a:ext cx="1536192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 i="0" dirty="0">
                <a:solidFill>
                  <a:srgbClr val="AEC5E3"/>
                </a:solidFill>
                <a:latin typeface="Arial"/>
              </a:rPr>
              <a:t>Guided steps, completion, history and responsive design.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50B238-25FB-A6EA-32F5-6FA3F010CFC9}"/>
              </a:ext>
            </a:extLst>
          </p:cNvPr>
          <p:cNvSpPr txBox="1"/>
          <p:nvPr/>
        </p:nvSpPr>
        <p:spPr>
          <a:xfrm>
            <a:off x="491345" y="4916202"/>
            <a:ext cx="2560320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 dirty="0">
                <a:solidFill>
                  <a:schemeClr val="bg2">
                    <a:lumMod val="10000"/>
                  </a:schemeClr>
                </a:solidFill>
                <a:latin typeface="Arial"/>
              </a:rPr>
              <a:t>SAMSUNG PRISM  •  THEME 02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A874CC-6756-E234-B019-2633E5AC577E}"/>
              </a:ext>
            </a:extLst>
          </p:cNvPr>
          <p:cNvSpPr txBox="1"/>
          <p:nvPr/>
        </p:nvSpPr>
        <p:spPr>
          <a:xfrm>
            <a:off x="504849" y="843662"/>
            <a:ext cx="5532120" cy="4462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900" b="1" i="0" dirty="0">
                <a:solidFill>
                  <a:srgbClr val="0070C0"/>
                </a:solidFill>
                <a:latin typeface="Arial"/>
              </a:rPr>
              <a:t>From language to action —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F4BC10-76D5-5169-808A-94556FDE6D2D}"/>
              </a:ext>
            </a:extLst>
          </p:cNvPr>
          <p:cNvSpPr txBox="1"/>
          <p:nvPr/>
        </p:nvSpPr>
        <p:spPr>
          <a:xfrm>
            <a:off x="527995" y="1313351"/>
            <a:ext cx="553212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 dirty="0">
                <a:solidFill>
                  <a:srgbClr val="0070C0"/>
                </a:solidFill>
                <a:latin typeface="Arial"/>
              </a:rPr>
              <a:t>with verification at every layer.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0208DB-C2D5-7BA4-386A-9F538E81AC68}"/>
              </a:ext>
            </a:extLst>
          </p:cNvPr>
          <p:cNvSpPr txBox="1"/>
          <p:nvPr/>
        </p:nvSpPr>
        <p:spPr>
          <a:xfrm>
            <a:off x="521208" y="1775034"/>
            <a:ext cx="507492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latin typeface="Arial"/>
              </a:rPr>
              <a:t>A consumer-facing experience built on a deterministic engineering core.</a:t>
            </a:r>
          </a:p>
        </p:txBody>
      </p:sp>
    </p:spTree>
    <p:extLst>
      <p:ext uri="{BB962C8B-B14F-4D97-AF65-F5344CB8AC3E}">
        <p14:creationId xmlns:p14="http://schemas.microsoft.com/office/powerpoint/2010/main" val="4159451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gh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0319" y="184371"/>
            <a:ext cx="7379439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3600" b="1" dirty="0">
                <a:solidFill>
                  <a:srgbClr val="704EA6"/>
                </a:solidFill>
              </a:rPr>
              <a:t>Checklist- Updated on Public GitHub</a:t>
            </a:r>
            <a:endParaRPr sz="3600" b="1" i="0" dirty="0">
              <a:solidFill>
                <a:srgbClr val="2E76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853428"/>
            <a:ext cx="81381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>
                <a:solidFill>
                  <a:srgbClr val="121B37"/>
                </a:solidFill>
                <a:latin typeface="Arial"/>
              </a:rPr>
              <a:t>Everything important is visible, reproducible and reviewable.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605"/>
            <a:ext cx="7955279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5B6987"/>
                </a:solidFill>
                <a:latin typeface="Arial"/>
              </a:rPr>
              <a:t>Keep this slide quiet; the proof is in the checked boxes.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67795"/>
            <a:ext cx="566928" cy="32004"/>
          </a:xfrm>
          <a:prstGeom prst="rect">
            <a:avLst/>
          </a:prstGeom>
          <a:solidFill>
            <a:srgbClr val="2E7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7" name="Oval 6"/>
          <p:cNvSpPr/>
          <p:nvPr/>
        </p:nvSpPr>
        <p:spPr>
          <a:xfrm>
            <a:off x="548640" y="1764792"/>
            <a:ext cx="310896" cy="310896"/>
          </a:xfrm>
          <a:prstGeom prst="ellipse">
            <a:avLst/>
          </a:prstGeom>
          <a:solidFill>
            <a:srgbClr val="E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8" name="TextBox 7"/>
          <p:cNvSpPr txBox="1"/>
          <p:nvPr/>
        </p:nvSpPr>
        <p:spPr>
          <a:xfrm>
            <a:off x="548640" y="1815864"/>
            <a:ext cx="31089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A06C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1736467"/>
            <a:ext cx="32461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WORKING PROTOTYPE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009337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5B6987"/>
                </a:solidFill>
                <a:latin typeface="Arial"/>
              </a:rPr>
              <a:t>Guided troubleshooting UI + API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78023"/>
            <a:ext cx="310896" cy="310896"/>
          </a:xfrm>
          <a:prstGeom prst="ellipse">
            <a:avLst/>
          </a:prstGeom>
          <a:solidFill>
            <a:srgbClr val="E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2" name="TextBox 11"/>
          <p:cNvSpPr txBox="1"/>
          <p:nvPr/>
        </p:nvSpPr>
        <p:spPr>
          <a:xfrm>
            <a:off x="548640" y="2529095"/>
            <a:ext cx="31089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A06C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449698"/>
            <a:ext cx="32461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PUBLIC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2637932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5B6987"/>
                </a:solidFill>
                <a:latin typeface="Arial"/>
              </a:rPr>
              <a:t>github.com/SWARNAVA182006/</a:t>
            </a:r>
            <a:r>
              <a:rPr sz="1100" b="0" i="0" dirty="0" err="1">
                <a:solidFill>
                  <a:srgbClr val="5B6987"/>
                </a:solidFill>
                <a:latin typeface="Arial"/>
              </a:rPr>
              <a:t>samsung</a:t>
            </a:r>
            <a:r>
              <a:rPr sz="1100" b="0" i="0" dirty="0">
                <a:solidFill>
                  <a:srgbClr val="5B6987"/>
                </a:solidFill>
                <a:latin typeface="Arial"/>
              </a:rPr>
              <a:t>-guided-troubleshooting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191256"/>
            <a:ext cx="310896" cy="310896"/>
          </a:xfrm>
          <a:prstGeom prst="ellipse">
            <a:avLst/>
          </a:prstGeom>
          <a:solidFill>
            <a:srgbClr val="E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548640" y="3242328"/>
            <a:ext cx="31089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A06C"/>
                </a:solidFill>
                <a:latin typeface="Arial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162931"/>
            <a:ext cx="32461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REPRODUCIBLE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435802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5B6987"/>
                </a:solidFill>
                <a:latin typeface="Arial"/>
              </a:rPr>
              <a:t>README + Docker + environment configuration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904488"/>
            <a:ext cx="310896" cy="310896"/>
          </a:xfrm>
          <a:prstGeom prst="ellipse">
            <a:avLst/>
          </a:prstGeom>
          <a:solidFill>
            <a:srgbClr val="E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0" name="TextBox 19"/>
          <p:cNvSpPr txBox="1"/>
          <p:nvPr/>
        </p:nvSpPr>
        <p:spPr>
          <a:xfrm>
            <a:off x="548640" y="3955560"/>
            <a:ext cx="31089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A06C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876163"/>
            <a:ext cx="32461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EVALUATION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149034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5B6987"/>
                </a:solidFill>
                <a:latin typeface="Arial"/>
              </a:rPr>
              <a:t>20 official benchmark cases + reports</a:t>
            </a:r>
          </a:p>
        </p:txBody>
      </p:sp>
      <p:sp>
        <p:nvSpPr>
          <p:cNvPr id="23" name="Oval 22"/>
          <p:cNvSpPr/>
          <p:nvPr/>
        </p:nvSpPr>
        <p:spPr>
          <a:xfrm>
            <a:off x="4709159" y="1764792"/>
            <a:ext cx="310896" cy="310896"/>
          </a:xfrm>
          <a:prstGeom prst="ellipse">
            <a:avLst/>
          </a:prstGeom>
          <a:solidFill>
            <a:srgbClr val="E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4" name="TextBox 23"/>
          <p:cNvSpPr txBox="1"/>
          <p:nvPr/>
        </p:nvSpPr>
        <p:spPr>
          <a:xfrm>
            <a:off x="4709159" y="1815864"/>
            <a:ext cx="31089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A06C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1" y="1736467"/>
            <a:ext cx="32461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TEST SUITE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1" y="2009337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 err="1">
                <a:solidFill>
                  <a:srgbClr val="5B6987"/>
                </a:solidFill>
                <a:latin typeface="Arial"/>
              </a:rPr>
              <a:t>pytest</a:t>
            </a:r>
            <a:r>
              <a:rPr sz="1100" b="0" i="0" dirty="0">
                <a:solidFill>
                  <a:srgbClr val="5B6987"/>
                </a:solidFill>
                <a:latin typeface="Arial"/>
              </a:rPr>
              <a:t> + Jest + frontend build</a:t>
            </a:r>
          </a:p>
        </p:txBody>
      </p:sp>
      <p:sp>
        <p:nvSpPr>
          <p:cNvPr id="27" name="Oval 26"/>
          <p:cNvSpPr/>
          <p:nvPr/>
        </p:nvSpPr>
        <p:spPr>
          <a:xfrm>
            <a:off x="4709159" y="2478023"/>
            <a:ext cx="310896" cy="310896"/>
          </a:xfrm>
          <a:prstGeom prst="ellipse">
            <a:avLst/>
          </a:prstGeom>
          <a:solidFill>
            <a:srgbClr val="E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28" name="TextBox 27"/>
          <p:cNvSpPr txBox="1"/>
          <p:nvPr/>
        </p:nvSpPr>
        <p:spPr>
          <a:xfrm>
            <a:off x="4709159" y="2529095"/>
            <a:ext cx="31089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A06C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8071" y="2449698"/>
            <a:ext cx="32461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DEMO VIDEO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1" y="2637932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1100" dirty="0">
                <a:solidFill>
                  <a:srgbClr val="5B6987"/>
                </a:solidFill>
                <a:latin typeface="Arial"/>
              </a:rPr>
              <a:t>https://drive.google.com/file/d/1TwWykxGNnVJEitRnajxDy2_izLY_SLDM/view?usp=sharing</a:t>
            </a:r>
            <a:endParaRPr sz="1100" b="0" i="0" dirty="0">
              <a:solidFill>
                <a:srgbClr val="5B6987"/>
              </a:solidFill>
              <a:latin typeface="Arial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709159" y="3191256"/>
            <a:ext cx="310896" cy="310896"/>
          </a:xfrm>
          <a:prstGeom prst="ellipse">
            <a:avLst/>
          </a:prstGeom>
          <a:solidFill>
            <a:srgbClr val="E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2" name="TextBox 31"/>
          <p:cNvSpPr txBox="1"/>
          <p:nvPr/>
        </p:nvSpPr>
        <p:spPr>
          <a:xfrm>
            <a:off x="4709159" y="3242328"/>
            <a:ext cx="31089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A06C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71" y="3162931"/>
            <a:ext cx="32461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AI DISCLOSURE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8071" y="3435802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5B6987"/>
                </a:solidFill>
                <a:latin typeface="Arial"/>
              </a:rPr>
              <a:t>Required submission document</a:t>
            </a:r>
          </a:p>
        </p:txBody>
      </p:sp>
      <p:sp>
        <p:nvSpPr>
          <p:cNvPr id="35" name="Oval 34"/>
          <p:cNvSpPr/>
          <p:nvPr/>
        </p:nvSpPr>
        <p:spPr>
          <a:xfrm>
            <a:off x="4709159" y="3904488"/>
            <a:ext cx="310896" cy="310896"/>
          </a:xfrm>
          <a:prstGeom prst="ellipse">
            <a:avLst/>
          </a:prstGeom>
          <a:solidFill>
            <a:srgbClr val="E8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36" name="TextBox 35"/>
          <p:cNvSpPr txBox="1"/>
          <p:nvPr/>
        </p:nvSpPr>
        <p:spPr>
          <a:xfrm>
            <a:off x="4709159" y="3955560"/>
            <a:ext cx="310896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20A06C"/>
                </a:solidFill>
                <a:latin typeface="Arial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8071" y="3876163"/>
            <a:ext cx="32461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rgbClr val="121B37"/>
                </a:solidFill>
                <a:latin typeface="Arial"/>
              </a:rPr>
              <a:t>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1" y="4149034"/>
            <a:ext cx="32918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5B6987"/>
                </a:solidFill>
                <a:latin typeface="Arial"/>
              </a:rPr>
              <a:t>PPTX + PDF final deliverable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4526280"/>
            <a:ext cx="7726679" cy="274320"/>
          </a:xfrm>
          <a:prstGeom prst="round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/>
          </a:p>
        </p:txBody>
      </p:sp>
      <p:sp>
        <p:nvSpPr>
          <p:cNvPr id="40" name="TextBox 39"/>
          <p:cNvSpPr txBox="1"/>
          <p:nvPr/>
        </p:nvSpPr>
        <p:spPr>
          <a:xfrm>
            <a:off x="786384" y="4569658"/>
            <a:ext cx="7223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Arial"/>
              </a:rPr>
              <a:t>FINAL CHECK  •  FACT-CHECKED  •  RENDERED  •  READY FOR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680" y="4900440"/>
            <a:ext cx="25603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5B6987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91727" y="4900440"/>
            <a:ext cx="23774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1" i="0" dirty="0">
                <a:solidFill>
                  <a:srgbClr val="5B698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bg.png">
            <a:extLst>
              <a:ext uri="{FF2B5EF4-FFF2-40B4-BE49-F238E27FC236}">
                <a16:creationId xmlns:a16="http://schemas.microsoft.com/office/drawing/2014/main" id="{05F76F73-B753-1F31-39C6-383019B1C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FAF8A68-6A34-EF6D-D439-EDC4FFD51B04}"/>
              </a:ext>
            </a:extLst>
          </p:cNvPr>
          <p:cNvSpPr txBox="1"/>
          <p:nvPr/>
        </p:nvSpPr>
        <p:spPr>
          <a:xfrm>
            <a:off x="530352" y="25603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dirty="0">
                <a:solidFill>
                  <a:schemeClr val="accent1"/>
                </a:solidFill>
                <a:latin typeface="Arial"/>
              </a:rPr>
              <a:t>SAMSUNG PRISM  •  THEME 02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EBD165-4D83-DAC1-4CCE-E801C71B684E}"/>
              </a:ext>
            </a:extLst>
          </p:cNvPr>
          <p:cNvSpPr txBox="1"/>
          <p:nvPr/>
        </p:nvSpPr>
        <p:spPr>
          <a:xfrm>
            <a:off x="1208279" y="599183"/>
            <a:ext cx="507492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 dirty="0">
                <a:solidFill>
                  <a:srgbClr val="002060"/>
                </a:solidFill>
                <a:latin typeface="Arial"/>
              </a:rPr>
              <a:t>Samsung Guided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7DB703-3C73-BC98-17D4-DBAAE23A98FE}"/>
              </a:ext>
            </a:extLst>
          </p:cNvPr>
          <p:cNvSpPr txBox="1"/>
          <p:nvPr/>
        </p:nvSpPr>
        <p:spPr>
          <a:xfrm>
            <a:off x="999819" y="1164915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dirty="0">
                <a:solidFill>
                  <a:srgbClr val="0070C0"/>
                </a:solidFill>
                <a:latin typeface="Arial"/>
              </a:rPr>
              <a:t>Troubleshooting Engine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AE8ADC-3661-5C20-60C9-719CDEAFC169}"/>
              </a:ext>
            </a:extLst>
          </p:cNvPr>
          <p:cNvSpPr txBox="1"/>
          <p:nvPr/>
        </p:nvSpPr>
        <p:spPr>
          <a:xfrm>
            <a:off x="678853" y="1715526"/>
            <a:ext cx="4846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 i="0" dirty="0">
                <a:latin typeface="Arial"/>
              </a:rPr>
              <a:t>From vague complaints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6D3DB3-0250-FAAE-9C3E-4C92D6FD9BA0}"/>
              </a:ext>
            </a:extLst>
          </p:cNvPr>
          <p:cNvSpPr txBox="1"/>
          <p:nvPr/>
        </p:nvSpPr>
        <p:spPr>
          <a:xfrm>
            <a:off x="836152" y="1973536"/>
            <a:ext cx="484632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 dirty="0">
                <a:solidFill>
                  <a:srgbClr val="002060"/>
                </a:solidFill>
                <a:latin typeface="Arial"/>
              </a:rPr>
              <a:t>to clear, actionable fixes.</a:t>
            </a:r>
          </a:p>
        </p:txBody>
      </p:sp>
      <p:sp>
        <p:nvSpPr>
          <p:cNvPr id="57" name="Rounded Rectangle 8">
            <a:extLst>
              <a:ext uri="{FF2B5EF4-FFF2-40B4-BE49-F238E27FC236}">
                <a16:creationId xmlns:a16="http://schemas.microsoft.com/office/drawing/2014/main" id="{B6ED3B4B-F7DF-103D-9995-4340B84835AA}"/>
              </a:ext>
            </a:extLst>
          </p:cNvPr>
          <p:cNvSpPr/>
          <p:nvPr/>
        </p:nvSpPr>
        <p:spPr>
          <a:xfrm>
            <a:off x="1954961" y="2597588"/>
            <a:ext cx="1572768" cy="640080"/>
          </a:xfrm>
          <a:prstGeom prst="roundRect">
            <a:avLst/>
          </a:prstGeom>
          <a:solidFill>
            <a:srgbClr val="0D1F40"/>
          </a:solidFill>
          <a:ln w="12700">
            <a:solidFill>
              <a:srgbClr val="2A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C36F28-9A4F-B4ED-30B6-BC0A663234B2}"/>
              </a:ext>
            </a:extLst>
          </p:cNvPr>
          <p:cNvSpPr txBox="1"/>
          <p:nvPr/>
        </p:nvSpPr>
        <p:spPr>
          <a:xfrm>
            <a:off x="1976951" y="2737179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dirty="0">
                <a:solidFill>
                  <a:srgbClr val="2E76FF"/>
                </a:solidFill>
                <a:latin typeface="Arial"/>
              </a:rPr>
              <a:t>20/20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248735-838E-5C42-2F84-998E76F2B42B}"/>
              </a:ext>
            </a:extLst>
          </p:cNvPr>
          <p:cNvSpPr txBox="1"/>
          <p:nvPr/>
        </p:nvSpPr>
        <p:spPr>
          <a:xfrm>
            <a:off x="2658469" y="2746032"/>
            <a:ext cx="8229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BBCCE5"/>
                </a:solidFill>
                <a:latin typeface="Arial"/>
              </a:rPr>
              <a:t>official cases evaluated</a:t>
            </a:r>
          </a:p>
        </p:txBody>
      </p:sp>
      <p:sp>
        <p:nvSpPr>
          <p:cNvPr id="63" name="Rounded Rectangle 11">
            <a:extLst>
              <a:ext uri="{FF2B5EF4-FFF2-40B4-BE49-F238E27FC236}">
                <a16:creationId xmlns:a16="http://schemas.microsoft.com/office/drawing/2014/main" id="{697EFA97-A946-508D-2B3A-9B8E0B69FB81}"/>
              </a:ext>
            </a:extLst>
          </p:cNvPr>
          <p:cNvSpPr/>
          <p:nvPr/>
        </p:nvSpPr>
        <p:spPr>
          <a:xfrm>
            <a:off x="3802049" y="2597588"/>
            <a:ext cx="1572768" cy="640080"/>
          </a:xfrm>
          <a:prstGeom prst="roundRect">
            <a:avLst/>
          </a:prstGeom>
          <a:solidFill>
            <a:srgbClr val="0D1F40"/>
          </a:solidFill>
          <a:ln w="12700">
            <a:solidFill>
              <a:srgbClr val="2A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06807A-1B83-15FE-F99A-43FA78590868}"/>
              </a:ext>
            </a:extLst>
          </p:cNvPr>
          <p:cNvSpPr txBox="1"/>
          <p:nvPr/>
        </p:nvSpPr>
        <p:spPr>
          <a:xfrm>
            <a:off x="3708289" y="2737179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 dirty="0">
                <a:solidFill>
                  <a:srgbClr val="4D49E0"/>
                </a:solidFill>
                <a:latin typeface="Arial"/>
              </a:rPr>
              <a:t>578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F2B6A1-049E-DE3A-188F-CFA62D116F31}"/>
              </a:ext>
            </a:extLst>
          </p:cNvPr>
          <p:cNvSpPr txBox="1"/>
          <p:nvPr/>
        </p:nvSpPr>
        <p:spPr>
          <a:xfrm>
            <a:off x="4343512" y="2746032"/>
            <a:ext cx="98755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BBCCE5"/>
                </a:solidFill>
                <a:latin typeface="Arial"/>
              </a:rPr>
              <a:t>official </a:t>
            </a:r>
            <a:r>
              <a:rPr sz="1000" b="1" i="0" dirty="0" err="1">
                <a:solidFill>
                  <a:srgbClr val="BBCCE5"/>
                </a:solidFill>
                <a:latin typeface="Arial"/>
              </a:rPr>
              <a:t>deeplink</a:t>
            </a:r>
            <a:r>
              <a:rPr sz="1000" b="1" i="0" dirty="0">
                <a:solidFill>
                  <a:srgbClr val="BBCCE5"/>
                </a:solidFill>
                <a:latin typeface="Arial"/>
              </a:rPr>
              <a:t> entries</a:t>
            </a:r>
          </a:p>
        </p:txBody>
      </p:sp>
      <p:sp>
        <p:nvSpPr>
          <p:cNvPr id="69" name="Rounded Rectangle 14">
            <a:extLst>
              <a:ext uri="{FF2B5EF4-FFF2-40B4-BE49-F238E27FC236}">
                <a16:creationId xmlns:a16="http://schemas.microsoft.com/office/drawing/2014/main" id="{F6F553FA-0D69-465A-F66F-1FD64A76961D}"/>
              </a:ext>
            </a:extLst>
          </p:cNvPr>
          <p:cNvSpPr/>
          <p:nvPr/>
        </p:nvSpPr>
        <p:spPr>
          <a:xfrm>
            <a:off x="5649137" y="2597588"/>
            <a:ext cx="1572768" cy="640080"/>
          </a:xfrm>
          <a:prstGeom prst="roundRect">
            <a:avLst/>
          </a:prstGeom>
          <a:solidFill>
            <a:srgbClr val="0D1F40"/>
          </a:solidFill>
          <a:ln w="12700">
            <a:solidFill>
              <a:srgbClr val="2A4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8AF16A-0B2E-BF0C-A515-2ACD1137D2A2}"/>
              </a:ext>
            </a:extLst>
          </p:cNvPr>
          <p:cNvSpPr txBox="1"/>
          <p:nvPr/>
        </p:nvSpPr>
        <p:spPr>
          <a:xfrm>
            <a:off x="5740577" y="2725604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2FC88B"/>
                </a:solidFill>
                <a:latin typeface="Arial"/>
              </a:rPr>
              <a:t>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287F387-D773-E4EC-F265-A24C56978BD6}"/>
              </a:ext>
            </a:extLst>
          </p:cNvPr>
          <p:cNvSpPr txBox="1"/>
          <p:nvPr/>
        </p:nvSpPr>
        <p:spPr>
          <a:xfrm>
            <a:off x="6248473" y="2753526"/>
            <a:ext cx="71323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 dirty="0">
                <a:solidFill>
                  <a:srgbClr val="BBCCE5"/>
                </a:solidFill>
                <a:latin typeface="Arial"/>
              </a:rPr>
              <a:t>URL leaks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DA1B48-32FA-6B4E-8E68-262F336269DB}"/>
              </a:ext>
            </a:extLst>
          </p:cNvPr>
          <p:cNvSpPr txBox="1"/>
          <p:nvPr/>
        </p:nvSpPr>
        <p:spPr>
          <a:xfrm>
            <a:off x="2457881" y="3431698"/>
            <a:ext cx="42976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dirty="0" err="1">
                <a:solidFill>
                  <a:srgbClr val="002060"/>
                </a:solidFill>
                <a:latin typeface="Arial"/>
              </a:rPr>
              <a:t>InnoVerse</a:t>
            </a:r>
            <a:r>
              <a:rPr sz="1400" b="1" i="0" dirty="0">
                <a:solidFill>
                  <a:srgbClr val="002060"/>
                </a:solidFill>
                <a:latin typeface="Arial"/>
              </a:rPr>
              <a:t>  •  SRMIST, </a:t>
            </a:r>
            <a:r>
              <a:rPr sz="1400" b="1" i="0" dirty="0" err="1">
                <a:solidFill>
                  <a:srgbClr val="002060"/>
                </a:solidFill>
                <a:latin typeface="Arial"/>
              </a:rPr>
              <a:t>Kattankulathur</a:t>
            </a:r>
            <a:endParaRPr sz="1400" b="1" i="0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F0E3E0B-BF84-8FCD-28E1-FE10EC17BA6F}"/>
              </a:ext>
            </a:extLst>
          </p:cNvPr>
          <p:cNvSpPr txBox="1"/>
          <p:nvPr/>
        </p:nvSpPr>
        <p:spPr>
          <a:xfrm>
            <a:off x="1263840" y="3736051"/>
            <a:ext cx="661632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400" b="1" dirty="0">
                <a:latin typeface="Arial"/>
              </a:rPr>
              <a:t>https://github.com/SWARNAVA182006/samsung-guided-troubleshooting.git</a:t>
            </a:r>
            <a:endParaRPr sz="1400" b="1" i="0" dirty="0">
              <a:latin typeface="Arial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B1DC84-91A4-756C-224F-5F4FD10892A5}"/>
              </a:ext>
            </a:extLst>
          </p:cNvPr>
          <p:cNvSpPr txBox="1"/>
          <p:nvPr/>
        </p:nvSpPr>
        <p:spPr>
          <a:xfrm>
            <a:off x="8447204" y="4776871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 dirty="0">
                <a:solidFill>
                  <a:srgbClr val="A1B7D7"/>
                </a:solidFill>
                <a:latin typeface="Arial"/>
              </a:rPr>
              <a:t>12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E38C4CE7-347D-30D8-9536-35FC18CD3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48" y="632468"/>
            <a:ext cx="1082579" cy="937259"/>
          </a:xfrm>
          <a:prstGeom prst="rect">
            <a:avLst/>
          </a:prstGeo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643D3CF6-B909-C5F6-699B-8CF385DF2218}"/>
              </a:ext>
            </a:extLst>
          </p:cNvPr>
          <p:cNvSpPr txBox="1"/>
          <p:nvPr/>
        </p:nvSpPr>
        <p:spPr>
          <a:xfrm>
            <a:off x="352333" y="4702702"/>
            <a:ext cx="6950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Organised by the Language AI Team and the PRISM Team, Samsung R&amp;D Institute India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60B7D98-A5EB-BCF9-33D4-2D847766DBE0}"/>
              </a:ext>
            </a:extLst>
          </p:cNvPr>
          <p:cNvSpPr txBox="1"/>
          <p:nvPr/>
        </p:nvSpPr>
        <p:spPr>
          <a:xfrm>
            <a:off x="-1002722" y="4189333"/>
            <a:ext cx="5074920" cy="5232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3400" b="1" i="0" dirty="0">
                <a:latin typeface="Arial"/>
              </a:rPr>
              <a:t>Thank You!</a:t>
            </a:r>
            <a:endParaRPr sz="3400" b="1" i="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8505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1479</Words>
  <Application>Microsoft Office PowerPoint</Application>
  <PresentationFormat>On-screen Show (16:9)</PresentationFormat>
  <Paragraphs>280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SWARNAVA SARKAR</cp:lastModifiedBy>
  <cp:revision>31</cp:revision>
  <dcterms:created xsi:type="dcterms:W3CDTF">2026-09-27T12:51:46Z</dcterms:created>
  <dcterms:modified xsi:type="dcterms:W3CDTF">2026-09-30T14:12:29Z</dcterms:modified>
</cp:coreProperties>
</file>